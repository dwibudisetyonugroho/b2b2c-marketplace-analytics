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66" r:id="rId4"/>
  </p:sldMasterIdLst>
  <p:notesMasterIdLst>
    <p:notesMasterId r:id="rId13"/>
  </p:notesMasterIdLst>
  <p:handoutMasterIdLst>
    <p:handoutMasterId r:id="rId14"/>
  </p:handoutMasterIdLst>
  <p:sldIdLst>
    <p:sldId id="256" r:id="rId5"/>
    <p:sldId id="295" r:id="rId6"/>
    <p:sldId id="296" r:id="rId7"/>
    <p:sldId id="297" r:id="rId8"/>
    <p:sldId id="298" r:id="rId9"/>
    <p:sldId id="299" r:id="rId10"/>
    <p:sldId id="300" r:id="rId11"/>
    <p:sldId id="27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75" d="100"/>
          <a:sy n="75" d="100"/>
        </p:scale>
        <p:origin x="902" y="43"/>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8B56E-FE7C-483C-AB39-EE8993863181}" type="doc">
      <dgm:prSet loTypeId="urn:microsoft.com/office/officeart/2005/8/layout/process1" loCatId="process" qsTypeId="urn:microsoft.com/office/officeart/2005/8/quickstyle/simple1" qsCatId="simple" csTypeId="urn:microsoft.com/office/officeart/2005/8/colors/accent0_3" csCatId="mainScheme" phldr="1"/>
      <dgm:spPr/>
    </dgm:pt>
    <dgm:pt modelId="{8338C831-9F69-4FC4-ABDF-6C09562ECC7D}">
      <dgm:prSet phldrT="[Text]"/>
      <dgm:spPr/>
      <dgm:t>
        <a:bodyPr/>
        <a:lstStyle/>
        <a:p>
          <a:r>
            <a:rPr lang="en-ID"/>
            <a:t>[B2B Lead Funnel]</a:t>
          </a:r>
          <a:endParaRPr lang="en-ID" dirty="0"/>
        </a:p>
      </dgm:t>
    </dgm:pt>
    <dgm:pt modelId="{DCBC6738-8EC7-4053-A0FB-766AEE1179ED}" type="parTrans" cxnId="{91F09406-233A-454A-9DB9-9CB5975A5AF7}">
      <dgm:prSet/>
      <dgm:spPr/>
      <dgm:t>
        <a:bodyPr/>
        <a:lstStyle/>
        <a:p>
          <a:endParaRPr lang="en-ID"/>
        </a:p>
      </dgm:t>
    </dgm:pt>
    <dgm:pt modelId="{B0332457-2FF6-46AA-A510-B3ADFC7A5029}" type="sibTrans" cxnId="{91F09406-233A-454A-9DB9-9CB5975A5AF7}">
      <dgm:prSet/>
      <dgm:spPr/>
      <dgm:t>
        <a:bodyPr/>
        <a:lstStyle/>
        <a:p>
          <a:endParaRPr lang="en-ID"/>
        </a:p>
      </dgm:t>
    </dgm:pt>
    <dgm:pt modelId="{2DE5EC04-418D-4567-98F7-0FB1222A4A38}">
      <dgm:prSet phldrT="[Text]"/>
      <dgm:spPr/>
      <dgm:t>
        <a:bodyPr/>
        <a:lstStyle/>
        <a:p>
          <a:r>
            <a:rPr lang="en-ID"/>
            <a:t>[Relational Analytics Core]</a:t>
          </a:r>
          <a:endParaRPr lang="en-ID" dirty="0"/>
        </a:p>
      </dgm:t>
    </dgm:pt>
    <dgm:pt modelId="{606E7FE6-D5F9-4025-A2EF-902B09347AB5}" type="parTrans" cxnId="{D6A3DC8B-084D-4D72-A79F-D8ED48F272C1}">
      <dgm:prSet/>
      <dgm:spPr/>
      <dgm:t>
        <a:bodyPr/>
        <a:lstStyle/>
        <a:p>
          <a:endParaRPr lang="en-ID"/>
        </a:p>
      </dgm:t>
    </dgm:pt>
    <dgm:pt modelId="{002D9850-A36D-4373-A46F-D64F7559B6C6}" type="sibTrans" cxnId="{D6A3DC8B-084D-4D72-A79F-D8ED48F272C1}">
      <dgm:prSet/>
      <dgm:spPr/>
      <dgm:t>
        <a:bodyPr/>
        <a:lstStyle/>
        <a:p>
          <a:endParaRPr lang="en-ID"/>
        </a:p>
      </dgm:t>
    </dgm:pt>
    <dgm:pt modelId="{53D08F88-10D1-4A72-9796-2CF2EA43C95D}">
      <dgm:prSet phldrT="[Text]"/>
      <dgm:spPr/>
      <dgm:t>
        <a:bodyPr/>
        <a:lstStyle/>
        <a:p>
          <a:r>
            <a:rPr lang="en-ID" dirty="0"/>
            <a:t>[B2C Customer Loyalty Matrix]</a:t>
          </a:r>
        </a:p>
      </dgm:t>
    </dgm:pt>
    <dgm:pt modelId="{F03DA273-279B-433A-8411-4822F0FCD711}" type="parTrans" cxnId="{B16C3549-BC63-47F7-A850-6AE56E77CC04}">
      <dgm:prSet/>
      <dgm:spPr/>
      <dgm:t>
        <a:bodyPr/>
        <a:lstStyle/>
        <a:p>
          <a:endParaRPr lang="en-ID"/>
        </a:p>
      </dgm:t>
    </dgm:pt>
    <dgm:pt modelId="{3165944B-4937-4C33-AB32-7503476CD7B8}" type="sibTrans" cxnId="{B16C3549-BC63-47F7-A850-6AE56E77CC04}">
      <dgm:prSet/>
      <dgm:spPr/>
      <dgm:t>
        <a:bodyPr/>
        <a:lstStyle/>
        <a:p>
          <a:endParaRPr lang="en-ID"/>
        </a:p>
      </dgm:t>
    </dgm:pt>
    <dgm:pt modelId="{E4D519C6-CF38-433E-BEBB-110787465B5A}" type="pres">
      <dgm:prSet presAssocID="{7E58B56E-FE7C-483C-AB39-EE8993863181}" presName="Name0" presStyleCnt="0">
        <dgm:presLayoutVars>
          <dgm:dir/>
          <dgm:resizeHandles val="exact"/>
        </dgm:presLayoutVars>
      </dgm:prSet>
      <dgm:spPr/>
    </dgm:pt>
    <dgm:pt modelId="{083BFF1A-9697-497D-BFF4-DAEB276A7E65}" type="pres">
      <dgm:prSet presAssocID="{8338C831-9F69-4FC4-ABDF-6C09562ECC7D}" presName="node" presStyleLbl="node1" presStyleIdx="0" presStyleCnt="3">
        <dgm:presLayoutVars>
          <dgm:bulletEnabled val="1"/>
        </dgm:presLayoutVars>
      </dgm:prSet>
      <dgm:spPr/>
    </dgm:pt>
    <dgm:pt modelId="{40B86026-9A9D-4A5F-9C57-27004728D31A}" type="pres">
      <dgm:prSet presAssocID="{B0332457-2FF6-46AA-A510-B3ADFC7A5029}" presName="sibTrans" presStyleLbl="sibTrans2D1" presStyleIdx="0" presStyleCnt="2"/>
      <dgm:spPr/>
    </dgm:pt>
    <dgm:pt modelId="{4A82DE9C-9CB4-4E90-95C0-B2C2F8DF57D8}" type="pres">
      <dgm:prSet presAssocID="{B0332457-2FF6-46AA-A510-B3ADFC7A5029}" presName="connectorText" presStyleLbl="sibTrans2D1" presStyleIdx="0" presStyleCnt="2"/>
      <dgm:spPr/>
    </dgm:pt>
    <dgm:pt modelId="{A3821C47-1906-4470-87AC-3566E3AC4D7A}" type="pres">
      <dgm:prSet presAssocID="{2DE5EC04-418D-4567-98F7-0FB1222A4A38}" presName="node" presStyleLbl="node1" presStyleIdx="1" presStyleCnt="3">
        <dgm:presLayoutVars>
          <dgm:bulletEnabled val="1"/>
        </dgm:presLayoutVars>
      </dgm:prSet>
      <dgm:spPr/>
    </dgm:pt>
    <dgm:pt modelId="{12438A97-A2FE-43CB-944D-205C90BECD39}" type="pres">
      <dgm:prSet presAssocID="{002D9850-A36D-4373-A46F-D64F7559B6C6}" presName="sibTrans" presStyleLbl="sibTrans2D1" presStyleIdx="1" presStyleCnt="2"/>
      <dgm:spPr/>
    </dgm:pt>
    <dgm:pt modelId="{0565AFC0-647B-437F-A78E-981C909D2EAA}" type="pres">
      <dgm:prSet presAssocID="{002D9850-A36D-4373-A46F-D64F7559B6C6}" presName="connectorText" presStyleLbl="sibTrans2D1" presStyleIdx="1" presStyleCnt="2"/>
      <dgm:spPr/>
    </dgm:pt>
    <dgm:pt modelId="{03A006E0-942A-42A9-9FE9-3D68A959363C}" type="pres">
      <dgm:prSet presAssocID="{53D08F88-10D1-4A72-9796-2CF2EA43C95D}" presName="node" presStyleLbl="node1" presStyleIdx="2" presStyleCnt="3">
        <dgm:presLayoutVars>
          <dgm:bulletEnabled val="1"/>
        </dgm:presLayoutVars>
      </dgm:prSet>
      <dgm:spPr/>
    </dgm:pt>
  </dgm:ptLst>
  <dgm:cxnLst>
    <dgm:cxn modelId="{91F09406-233A-454A-9DB9-9CB5975A5AF7}" srcId="{7E58B56E-FE7C-483C-AB39-EE8993863181}" destId="{8338C831-9F69-4FC4-ABDF-6C09562ECC7D}" srcOrd="0" destOrd="0" parTransId="{DCBC6738-8EC7-4053-A0FB-766AEE1179ED}" sibTransId="{B0332457-2FF6-46AA-A510-B3ADFC7A5029}"/>
    <dgm:cxn modelId="{9104FF14-541E-4509-83A6-D10C13883363}" type="presOf" srcId="{2DE5EC04-418D-4567-98F7-0FB1222A4A38}" destId="{A3821C47-1906-4470-87AC-3566E3AC4D7A}" srcOrd="0" destOrd="0" presId="urn:microsoft.com/office/officeart/2005/8/layout/process1"/>
    <dgm:cxn modelId="{F31C442C-5DB1-4723-9422-5E9C984195A4}" type="presOf" srcId="{002D9850-A36D-4373-A46F-D64F7559B6C6}" destId="{0565AFC0-647B-437F-A78E-981C909D2EAA}" srcOrd="1" destOrd="0" presId="urn:microsoft.com/office/officeart/2005/8/layout/process1"/>
    <dgm:cxn modelId="{0C442448-C444-46A5-859D-88CFB06494C8}" type="presOf" srcId="{B0332457-2FF6-46AA-A510-B3ADFC7A5029}" destId="{4A82DE9C-9CB4-4E90-95C0-B2C2F8DF57D8}" srcOrd="1" destOrd="0" presId="urn:microsoft.com/office/officeart/2005/8/layout/process1"/>
    <dgm:cxn modelId="{B16C3549-BC63-47F7-A850-6AE56E77CC04}" srcId="{7E58B56E-FE7C-483C-AB39-EE8993863181}" destId="{53D08F88-10D1-4A72-9796-2CF2EA43C95D}" srcOrd="2" destOrd="0" parTransId="{F03DA273-279B-433A-8411-4822F0FCD711}" sibTransId="{3165944B-4937-4C33-AB32-7503476CD7B8}"/>
    <dgm:cxn modelId="{5AEB9B6D-FBF5-4E64-916C-B849A7429553}" type="presOf" srcId="{B0332457-2FF6-46AA-A510-B3ADFC7A5029}" destId="{40B86026-9A9D-4A5F-9C57-27004728D31A}" srcOrd="0" destOrd="0" presId="urn:microsoft.com/office/officeart/2005/8/layout/process1"/>
    <dgm:cxn modelId="{FDEA4A7A-FBA2-4EC5-B389-BEE2C66EBA5A}" type="presOf" srcId="{53D08F88-10D1-4A72-9796-2CF2EA43C95D}" destId="{03A006E0-942A-42A9-9FE9-3D68A959363C}" srcOrd="0" destOrd="0" presId="urn:microsoft.com/office/officeart/2005/8/layout/process1"/>
    <dgm:cxn modelId="{A1A0908B-836F-4901-B1BC-3E145838D42C}" type="presOf" srcId="{002D9850-A36D-4373-A46F-D64F7559B6C6}" destId="{12438A97-A2FE-43CB-944D-205C90BECD39}" srcOrd="0" destOrd="0" presId="urn:microsoft.com/office/officeart/2005/8/layout/process1"/>
    <dgm:cxn modelId="{D6A3DC8B-084D-4D72-A79F-D8ED48F272C1}" srcId="{7E58B56E-FE7C-483C-AB39-EE8993863181}" destId="{2DE5EC04-418D-4567-98F7-0FB1222A4A38}" srcOrd="1" destOrd="0" parTransId="{606E7FE6-D5F9-4025-A2EF-902B09347AB5}" sibTransId="{002D9850-A36D-4373-A46F-D64F7559B6C6}"/>
    <dgm:cxn modelId="{AAC1D1EC-E771-4930-8C72-92705602285D}" type="presOf" srcId="{7E58B56E-FE7C-483C-AB39-EE8993863181}" destId="{E4D519C6-CF38-433E-BEBB-110787465B5A}" srcOrd="0" destOrd="0" presId="urn:microsoft.com/office/officeart/2005/8/layout/process1"/>
    <dgm:cxn modelId="{1F9E51FD-30D1-4F8F-9D1D-2B6DD81F1893}" type="presOf" srcId="{8338C831-9F69-4FC4-ABDF-6C09562ECC7D}" destId="{083BFF1A-9697-497D-BFF4-DAEB276A7E65}" srcOrd="0" destOrd="0" presId="urn:microsoft.com/office/officeart/2005/8/layout/process1"/>
    <dgm:cxn modelId="{E38149E1-0D42-481E-9FD3-7E90AAC60043}" type="presParOf" srcId="{E4D519C6-CF38-433E-BEBB-110787465B5A}" destId="{083BFF1A-9697-497D-BFF4-DAEB276A7E65}" srcOrd="0" destOrd="0" presId="urn:microsoft.com/office/officeart/2005/8/layout/process1"/>
    <dgm:cxn modelId="{78438C32-934F-4338-85BE-34BA212B0180}" type="presParOf" srcId="{E4D519C6-CF38-433E-BEBB-110787465B5A}" destId="{40B86026-9A9D-4A5F-9C57-27004728D31A}" srcOrd="1" destOrd="0" presId="urn:microsoft.com/office/officeart/2005/8/layout/process1"/>
    <dgm:cxn modelId="{3FFCB787-2137-4A4E-AA7D-783DBEC8DD63}" type="presParOf" srcId="{40B86026-9A9D-4A5F-9C57-27004728D31A}" destId="{4A82DE9C-9CB4-4E90-95C0-B2C2F8DF57D8}" srcOrd="0" destOrd="0" presId="urn:microsoft.com/office/officeart/2005/8/layout/process1"/>
    <dgm:cxn modelId="{158A75FB-6F13-4852-BF14-9A011F255980}" type="presParOf" srcId="{E4D519C6-CF38-433E-BEBB-110787465B5A}" destId="{A3821C47-1906-4470-87AC-3566E3AC4D7A}" srcOrd="2" destOrd="0" presId="urn:microsoft.com/office/officeart/2005/8/layout/process1"/>
    <dgm:cxn modelId="{78C40D27-0AC0-4E79-AD67-AB4C3C198F7B}" type="presParOf" srcId="{E4D519C6-CF38-433E-BEBB-110787465B5A}" destId="{12438A97-A2FE-43CB-944D-205C90BECD39}" srcOrd="3" destOrd="0" presId="urn:microsoft.com/office/officeart/2005/8/layout/process1"/>
    <dgm:cxn modelId="{E6836379-FB2A-4639-9506-99CC2A761233}" type="presParOf" srcId="{12438A97-A2FE-43CB-944D-205C90BECD39}" destId="{0565AFC0-647B-437F-A78E-981C909D2EAA}" srcOrd="0" destOrd="0" presId="urn:microsoft.com/office/officeart/2005/8/layout/process1"/>
    <dgm:cxn modelId="{4637AAB8-2049-4328-9937-ABC4AAC1BCED}" type="presParOf" srcId="{E4D519C6-CF38-433E-BEBB-110787465B5A}" destId="{03A006E0-942A-42A9-9FE9-3D68A959363C}"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41426B-58AC-4AB8-9CE3-CF653212766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D"/>
        </a:p>
      </dgm:t>
    </dgm:pt>
    <dgm:pt modelId="{CD98D0F2-A68D-4BDB-9419-C991645DA73A}">
      <dgm:prSet phldrT="[Text]"/>
      <dgm:spPr/>
      <dgm:t>
        <a:bodyPr/>
        <a:lstStyle/>
        <a:p>
          <a:r>
            <a:rPr lang="en-ID" dirty="0"/>
            <a:t>The Blueprint</a:t>
          </a:r>
        </a:p>
      </dgm:t>
    </dgm:pt>
    <dgm:pt modelId="{EE1B079A-E791-4643-B35D-3B24861510FE}" type="parTrans" cxnId="{A3CCFCDA-38E7-4946-A298-4EF2EA767555}">
      <dgm:prSet/>
      <dgm:spPr/>
      <dgm:t>
        <a:bodyPr/>
        <a:lstStyle/>
        <a:p>
          <a:endParaRPr lang="en-ID"/>
        </a:p>
      </dgm:t>
    </dgm:pt>
    <dgm:pt modelId="{74CFD232-696E-4098-8B13-42917B70CD8E}" type="sibTrans" cxnId="{A3CCFCDA-38E7-4946-A298-4EF2EA767555}">
      <dgm:prSet/>
      <dgm:spPr/>
      <dgm:t>
        <a:bodyPr/>
        <a:lstStyle/>
        <a:p>
          <a:endParaRPr lang="en-ID"/>
        </a:p>
      </dgm:t>
    </dgm:pt>
    <dgm:pt modelId="{320BA4CB-230A-4EC5-A201-3FF65A4B993D}">
      <dgm:prSet phldrT="[Text]"/>
      <dgm:spPr/>
      <dgm:t>
        <a:bodyPr/>
        <a:lstStyle/>
        <a:p>
          <a:r>
            <a:rPr lang="en-US" dirty="0"/>
            <a:t>This project connects two separate worlds that usually don't talk to each other: B2B Merchant Sales Operations and B2C Consumer Product Retention.</a:t>
          </a:r>
          <a:endParaRPr lang="en-ID" dirty="0"/>
        </a:p>
      </dgm:t>
    </dgm:pt>
    <dgm:pt modelId="{9B62432E-0F28-4A39-BCBE-135DA6081A22}" type="parTrans" cxnId="{063E6155-E8A1-44A9-B9F6-C301929FAED0}">
      <dgm:prSet/>
      <dgm:spPr/>
      <dgm:t>
        <a:bodyPr/>
        <a:lstStyle/>
        <a:p>
          <a:endParaRPr lang="en-ID"/>
        </a:p>
      </dgm:t>
    </dgm:pt>
    <dgm:pt modelId="{9699BD25-EB2B-4D4D-90F0-EE313CB66299}" type="sibTrans" cxnId="{063E6155-E8A1-44A9-B9F6-C301929FAED0}">
      <dgm:prSet/>
      <dgm:spPr/>
      <dgm:t>
        <a:bodyPr/>
        <a:lstStyle/>
        <a:p>
          <a:endParaRPr lang="en-ID"/>
        </a:p>
      </dgm:t>
    </dgm:pt>
    <dgm:pt modelId="{B5753992-4D3C-47BA-AA28-E66E9729C345}">
      <dgm:prSet phldrT="[Text]"/>
      <dgm:spPr/>
      <dgm:t>
        <a:bodyPr/>
        <a:lstStyle/>
        <a:p>
          <a:r>
            <a:rPr lang="en-ID" dirty="0"/>
            <a:t>The Value</a:t>
          </a:r>
        </a:p>
      </dgm:t>
    </dgm:pt>
    <dgm:pt modelId="{C27E5606-6624-4B5B-8FB6-A85CA922E595}" type="parTrans" cxnId="{1EF59EC1-F4CA-4A17-80E4-E7DAECB058E2}">
      <dgm:prSet/>
      <dgm:spPr/>
      <dgm:t>
        <a:bodyPr/>
        <a:lstStyle/>
        <a:p>
          <a:endParaRPr lang="en-ID"/>
        </a:p>
      </dgm:t>
    </dgm:pt>
    <dgm:pt modelId="{8F01BE72-1A4C-4DEC-A4F3-AECEB2CE7BE4}" type="sibTrans" cxnId="{1EF59EC1-F4CA-4A17-80E4-E7DAECB058E2}">
      <dgm:prSet/>
      <dgm:spPr/>
      <dgm:t>
        <a:bodyPr/>
        <a:lstStyle/>
        <a:p>
          <a:endParaRPr lang="en-ID"/>
        </a:p>
      </dgm:t>
    </dgm:pt>
    <dgm:pt modelId="{56B2B777-1AC7-4486-B9E2-C8AB3146D8D1}">
      <dgm:prSet phldrT="[Text]"/>
      <dgm:spPr/>
      <dgm:t>
        <a:bodyPr/>
        <a:lstStyle/>
        <a:p>
          <a:r>
            <a:rPr lang="en-US" dirty="0"/>
            <a:t>We are tracking every dollar from the initial marketing contact down to long-term buyer engagement.</a:t>
          </a:r>
          <a:endParaRPr lang="en-ID" dirty="0"/>
        </a:p>
      </dgm:t>
    </dgm:pt>
    <dgm:pt modelId="{715CEF61-465F-4FF3-B939-9966B2153F7D}" type="parTrans" cxnId="{90DE5DF9-061A-43BF-A597-1372E3D73D5D}">
      <dgm:prSet/>
      <dgm:spPr/>
      <dgm:t>
        <a:bodyPr/>
        <a:lstStyle/>
        <a:p>
          <a:endParaRPr lang="en-ID"/>
        </a:p>
      </dgm:t>
    </dgm:pt>
    <dgm:pt modelId="{C8924821-F2D1-438F-8A05-BA972810571E}" type="sibTrans" cxnId="{90DE5DF9-061A-43BF-A597-1372E3D73D5D}">
      <dgm:prSet/>
      <dgm:spPr/>
      <dgm:t>
        <a:bodyPr/>
        <a:lstStyle/>
        <a:p>
          <a:endParaRPr lang="en-ID"/>
        </a:p>
      </dgm:t>
    </dgm:pt>
    <dgm:pt modelId="{30332B56-5F6C-4205-B42B-2527797AB485}" type="pres">
      <dgm:prSet presAssocID="{ED41426B-58AC-4AB8-9CE3-CF6532127662}" presName="linear" presStyleCnt="0">
        <dgm:presLayoutVars>
          <dgm:animLvl val="lvl"/>
          <dgm:resizeHandles val="exact"/>
        </dgm:presLayoutVars>
      </dgm:prSet>
      <dgm:spPr/>
    </dgm:pt>
    <dgm:pt modelId="{B6CAFAE9-3B93-4013-8FAA-20C468541140}" type="pres">
      <dgm:prSet presAssocID="{CD98D0F2-A68D-4BDB-9419-C991645DA73A}" presName="parentText" presStyleLbl="node1" presStyleIdx="0" presStyleCnt="2">
        <dgm:presLayoutVars>
          <dgm:chMax val="0"/>
          <dgm:bulletEnabled val="1"/>
        </dgm:presLayoutVars>
      </dgm:prSet>
      <dgm:spPr/>
    </dgm:pt>
    <dgm:pt modelId="{527F21BE-6949-4183-846E-AE3675671CC6}" type="pres">
      <dgm:prSet presAssocID="{CD98D0F2-A68D-4BDB-9419-C991645DA73A}" presName="childText" presStyleLbl="revTx" presStyleIdx="0" presStyleCnt="2">
        <dgm:presLayoutVars>
          <dgm:bulletEnabled val="1"/>
        </dgm:presLayoutVars>
      </dgm:prSet>
      <dgm:spPr/>
    </dgm:pt>
    <dgm:pt modelId="{2F47331F-E229-455F-AC75-8A93BD977EC2}" type="pres">
      <dgm:prSet presAssocID="{B5753992-4D3C-47BA-AA28-E66E9729C345}" presName="parentText" presStyleLbl="node1" presStyleIdx="1" presStyleCnt="2">
        <dgm:presLayoutVars>
          <dgm:chMax val="0"/>
          <dgm:bulletEnabled val="1"/>
        </dgm:presLayoutVars>
      </dgm:prSet>
      <dgm:spPr/>
    </dgm:pt>
    <dgm:pt modelId="{26C85DE3-3C85-4496-BAD9-3ED14850B840}" type="pres">
      <dgm:prSet presAssocID="{B5753992-4D3C-47BA-AA28-E66E9729C345}" presName="childText" presStyleLbl="revTx" presStyleIdx="1" presStyleCnt="2">
        <dgm:presLayoutVars>
          <dgm:bulletEnabled val="1"/>
        </dgm:presLayoutVars>
      </dgm:prSet>
      <dgm:spPr/>
    </dgm:pt>
  </dgm:ptLst>
  <dgm:cxnLst>
    <dgm:cxn modelId="{CE0ED460-BD76-4EEE-9A74-633E77E5BA8F}" type="presOf" srcId="{320BA4CB-230A-4EC5-A201-3FF65A4B993D}" destId="{527F21BE-6949-4183-846E-AE3675671CC6}" srcOrd="0" destOrd="0" presId="urn:microsoft.com/office/officeart/2005/8/layout/vList2"/>
    <dgm:cxn modelId="{E7B66C4A-3643-4DE7-83B0-FA296D8B56CC}" type="presOf" srcId="{56B2B777-1AC7-4486-B9E2-C8AB3146D8D1}" destId="{26C85DE3-3C85-4496-BAD9-3ED14850B840}" srcOrd="0" destOrd="0" presId="urn:microsoft.com/office/officeart/2005/8/layout/vList2"/>
    <dgm:cxn modelId="{063E6155-E8A1-44A9-B9F6-C301929FAED0}" srcId="{CD98D0F2-A68D-4BDB-9419-C991645DA73A}" destId="{320BA4CB-230A-4EC5-A201-3FF65A4B993D}" srcOrd="0" destOrd="0" parTransId="{9B62432E-0F28-4A39-BCBE-135DA6081A22}" sibTransId="{9699BD25-EB2B-4D4D-90F0-EE313CB66299}"/>
    <dgm:cxn modelId="{BBA7A289-161B-4BC1-88D8-02139ADBADEF}" type="presOf" srcId="{B5753992-4D3C-47BA-AA28-E66E9729C345}" destId="{2F47331F-E229-455F-AC75-8A93BD977EC2}" srcOrd="0" destOrd="0" presId="urn:microsoft.com/office/officeart/2005/8/layout/vList2"/>
    <dgm:cxn modelId="{1EF59EC1-F4CA-4A17-80E4-E7DAECB058E2}" srcId="{ED41426B-58AC-4AB8-9CE3-CF6532127662}" destId="{B5753992-4D3C-47BA-AA28-E66E9729C345}" srcOrd="1" destOrd="0" parTransId="{C27E5606-6624-4B5B-8FB6-A85CA922E595}" sibTransId="{8F01BE72-1A4C-4DEC-A4F3-AECEB2CE7BE4}"/>
    <dgm:cxn modelId="{7DA045C2-26D8-4B4C-82C7-8993C7B24CD5}" type="presOf" srcId="{CD98D0F2-A68D-4BDB-9419-C991645DA73A}" destId="{B6CAFAE9-3B93-4013-8FAA-20C468541140}" srcOrd="0" destOrd="0" presId="urn:microsoft.com/office/officeart/2005/8/layout/vList2"/>
    <dgm:cxn modelId="{032847CA-9053-40C6-8653-DDC472579319}" type="presOf" srcId="{ED41426B-58AC-4AB8-9CE3-CF6532127662}" destId="{30332B56-5F6C-4205-B42B-2527797AB485}" srcOrd="0" destOrd="0" presId="urn:microsoft.com/office/officeart/2005/8/layout/vList2"/>
    <dgm:cxn modelId="{A3CCFCDA-38E7-4946-A298-4EF2EA767555}" srcId="{ED41426B-58AC-4AB8-9CE3-CF6532127662}" destId="{CD98D0F2-A68D-4BDB-9419-C991645DA73A}" srcOrd="0" destOrd="0" parTransId="{EE1B079A-E791-4643-B35D-3B24861510FE}" sibTransId="{74CFD232-696E-4098-8B13-42917B70CD8E}"/>
    <dgm:cxn modelId="{90DE5DF9-061A-43BF-A597-1372E3D73D5D}" srcId="{B5753992-4D3C-47BA-AA28-E66E9729C345}" destId="{56B2B777-1AC7-4486-B9E2-C8AB3146D8D1}" srcOrd="0" destOrd="0" parTransId="{715CEF61-465F-4FF3-B939-9966B2153F7D}" sibTransId="{C8924821-F2D1-438F-8A05-BA972810571E}"/>
    <dgm:cxn modelId="{C32BA86C-20FF-4959-B17C-E4B6A5D47880}" type="presParOf" srcId="{30332B56-5F6C-4205-B42B-2527797AB485}" destId="{B6CAFAE9-3B93-4013-8FAA-20C468541140}" srcOrd="0" destOrd="0" presId="urn:microsoft.com/office/officeart/2005/8/layout/vList2"/>
    <dgm:cxn modelId="{3569C9C1-0549-465D-BE2B-E5B8F4FE0098}" type="presParOf" srcId="{30332B56-5F6C-4205-B42B-2527797AB485}" destId="{527F21BE-6949-4183-846E-AE3675671CC6}" srcOrd="1" destOrd="0" presId="urn:microsoft.com/office/officeart/2005/8/layout/vList2"/>
    <dgm:cxn modelId="{41715E96-3626-44B0-B493-7F2BC220EA65}" type="presParOf" srcId="{30332B56-5F6C-4205-B42B-2527797AB485}" destId="{2F47331F-E229-455F-AC75-8A93BD977EC2}" srcOrd="2" destOrd="0" presId="urn:microsoft.com/office/officeart/2005/8/layout/vList2"/>
    <dgm:cxn modelId="{BA7FE36F-7BD5-4A56-B805-A7DC70B41E9C}" type="presParOf" srcId="{30332B56-5F6C-4205-B42B-2527797AB485}" destId="{26C85DE3-3C85-4496-BAD9-3ED14850B840}" srcOrd="3"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41426B-58AC-4AB8-9CE3-CF653212766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D"/>
        </a:p>
      </dgm:t>
    </dgm:pt>
    <dgm:pt modelId="{CD98D0F2-A68D-4BDB-9419-C991645DA73A}">
      <dgm:prSet phldrT="[Text]"/>
      <dgm:spPr/>
      <dgm:t>
        <a:bodyPr/>
        <a:lstStyle/>
        <a:p>
          <a:r>
            <a:rPr lang="en-ID" dirty="0"/>
            <a:t>The Disconnect</a:t>
          </a:r>
        </a:p>
      </dgm:t>
    </dgm:pt>
    <dgm:pt modelId="{EE1B079A-E791-4643-B35D-3B24861510FE}" type="parTrans" cxnId="{A3CCFCDA-38E7-4946-A298-4EF2EA767555}">
      <dgm:prSet/>
      <dgm:spPr/>
      <dgm:t>
        <a:bodyPr/>
        <a:lstStyle/>
        <a:p>
          <a:endParaRPr lang="en-ID"/>
        </a:p>
      </dgm:t>
    </dgm:pt>
    <dgm:pt modelId="{74CFD232-696E-4098-8B13-42917B70CD8E}" type="sibTrans" cxnId="{A3CCFCDA-38E7-4946-A298-4EF2EA767555}">
      <dgm:prSet/>
      <dgm:spPr/>
      <dgm:t>
        <a:bodyPr/>
        <a:lstStyle/>
        <a:p>
          <a:endParaRPr lang="en-ID"/>
        </a:p>
      </dgm:t>
    </dgm:pt>
    <dgm:pt modelId="{320BA4CB-230A-4EC5-A201-3FF65A4B993D}">
      <dgm:prSet phldrT="[Text]"/>
      <dgm:spPr/>
      <dgm:t>
        <a:bodyPr/>
        <a:lstStyle/>
        <a:p>
          <a:r>
            <a:rPr lang="en-US"/>
            <a:t>Buying high traffic numbers means nothing if those channels bring in low-value merchants.</a:t>
          </a:r>
          <a:endParaRPr lang="en-ID" dirty="0"/>
        </a:p>
      </dgm:t>
    </dgm:pt>
    <dgm:pt modelId="{9B62432E-0F28-4A39-BCBE-135DA6081A22}" type="parTrans" cxnId="{063E6155-E8A1-44A9-B9F6-C301929FAED0}">
      <dgm:prSet/>
      <dgm:spPr/>
      <dgm:t>
        <a:bodyPr/>
        <a:lstStyle/>
        <a:p>
          <a:endParaRPr lang="en-ID"/>
        </a:p>
      </dgm:t>
    </dgm:pt>
    <dgm:pt modelId="{9699BD25-EB2B-4D4D-90F0-EE313CB66299}" type="sibTrans" cxnId="{063E6155-E8A1-44A9-B9F6-C301929FAED0}">
      <dgm:prSet/>
      <dgm:spPr/>
      <dgm:t>
        <a:bodyPr/>
        <a:lstStyle/>
        <a:p>
          <a:endParaRPr lang="en-ID"/>
        </a:p>
      </dgm:t>
    </dgm:pt>
    <dgm:pt modelId="{B5753992-4D3C-47BA-AA28-E66E9729C345}">
      <dgm:prSet phldrT="[Text]"/>
      <dgm:spPr/>
      <dgm:t>
        <a:bodyPr/>
        <a:lstStyle/>
        <a:p>
          <a:r>
            <a:rPr lang="en-ID" dirty="0"/>
            <a:t>The Consequence</a:t>
          </a:r>
        </a:p>
      </dgm:t>
    </dgm:pt>
    <dgm:pt modelId="{C27E5606-6624-4B5B-8FB6-A85CA922E595}" type="parTrans" cxnId="{1EF59EC1-F4CA-4A17-80E4-E7DAECB058E2}">
      <dgm:prSet/>
      <dgm:spPr/>
      <dgm:t>
        <a:bodyPr/>
        <a:lstStyle/>
        <a:p>
          <a:endParaRPr lang="en-ID"/>
        </a:p>
      </dgm:t>
    </dgm:pt>
    <dgm:pt modelId="{8F01BE72-1A4C-4DEC-A4F3-AECEB2CE7BE4}" type="sibTrans" cxnId="{1EF59EC1-F4CA-4A17-80E4-E7DAECB058E2}">
      <dgm:prSet/>
      <dgm:spPr/>
      <dgm:t>
        <a:bodyPr/>
        <a:lstStyle/>
        <a:p>
          <a:endParaRPr lang="en-ID"/>
        </a:p>
      </dgm:t>
    </dgm:pt>
    <dgm:pt modelId="{56B2B777-1AC7-4486-B9E2-C8AB3146D8D1}">
      <dgm:prSet phldrT="[Text]"/>
      <dgm:spPr/>
      <dgm:t>
        <a:bodyPr/>
        <a:lstStyle/>
        <a:p>
          <a:r>
            <a:rPr lang="en-US" dirty="0"/>
            <a:t>The business gets stuck on an expensive acquisition treadmill to keep GMV growing.</a:t>
          </a:r>
          <a:endParaRPr lang="en-ID" dirty="0"/>
        </a:p>
      </dgm:t>
    </dgm:pt>
    <dgm:pt modelId="{715CEF61-465F-4FF3-B939-9966B2153F7D}" type="parTrans" cxnId="{90DE5DF9-061A-43BF-A597-1372E3D73D5D}">
      <dgm:prSet/>
      <dgm:spPr/>
      <dgm:t>
        <a:bodyPr/>
        <a:lstStyle/>
        <a:p>
          <a:endParaRPr lang="en-ID"/>
        </a:p>
      </dgm:t>
    </dgm:pt>
    <dgm:pt modelId="{C8924821-F2D1-438F-8A05-BA972810571E}" type="sibTrans" cxnId="{90DE5DF9-061A-43BF-A597-1372E3D73D5D}">
      <dgm:prSet/>
      <dgm:spPr/>
      <dgm:t>
        <a:bodyPr/>
        <a:lstStyle/>
        <a:p>
          <a:endParaRPr lang="en-ID"/>
        </a:p>
      </dgm:t>
    </dgm:pt>
    <dgm:pt modelId="{30332B56-5F6C-4205-B42B-2527797AB485}" type="pres">
      <dgm:prSet presAssocID="{ED41426B-58AC-4AB8-9CE3-CF6532127662}" presName="linear" presStyleCnt="0">
        <dgm:presLayoutVars>
          <dgm:animLvl val="lvl"/>
          <dgm:resizeHandles val="exact"/>
        </dgm:presLayoutVars>
      </dgm:prSet>
      <dgm:spPr/>
    </dgm:pt>
    <dgm:pt modelId="{B6CAFAE9-3B93-4013-8FAA-20C468541140}" type="pres">
      <dgm:prSet presAssocID="{CD98D0F2-A68D-4BDB-9419-C991645DA73A}" presName="parentText" presStyleLbl="node1" presStyleIdx="0" presStyleCnt="2">
        <dgm:presLayoutVars>
          <dgm:chMax val="0"/>
          <dgm:bulletEnabled val="1"/>
        </dgm:presLayoutVars>
      </dgm:prSet>
      <dgm:spPr/>
    </dgm:pt>
    <dgm:pt modelId="{527F21BE-6949-4183-846E-AE3675671CC6}" type="pres">
      <dgm:prSet presAssocID="{CD98D0F2-A68D-4BDB-9419-C991645DA73A}" presName="childText" presStyleLbl="revTx" presStyleIdx="0" presStyleCnt="2">
        <dgm:presLayoutVars>
          <dgm:bulletEnabled val="1"/>
        </dgm:presLayoutVars>
      </dgm:prSet>
      <dgm:spPr/>
    </dgm:pt>
    <dgm:pt modelId="{2F47331F-E229-455F-AC75-8A93BD977EC2}" type="pres">
      <dgm:prSet presAssocID="{B5753992-4D3C-47BA-AA28-E66E9729C345}" presName="parentText" presStyleLbl="node1" presStyleIdx="1" presStyleCnt="2">
        <dgm:presLayoutVars>
          <dgm:chMax val="0"/>
          <dgm:bulletEnabled val="1"/>
        </dgm:presLayoutVars>
      </dgm:prSet>
      <dgm:spPr/>
    </dgm:pt>
    <dgm:pt modelId="{26C85DE3-3C85-4496-BAD9-3ED14850B840}" type="pres">
      <dgm:prSet presAssocID="{B5753992-4D3C-47BA-AA28-E66E9729C345}" presName="childText" presStyleLbl="revTx" presStyleIdx="1" presStyleCnt="2">
        <dgm:presLayoutVars>
          <dgm:bulletEnabled val="1"/>
        </dgm:presLayoutVars>
      </dgm:prSet>
      <dgm:spPr/>
    </dgm:pt>
  </dgm:ptLst>
  <dgm:cxnLst>
    <dgm:cxn modelId="{CE0ED460-BD76-4EEE-9A74-633E77E5BA8F}" type="presOf" srcId="{320BA4CB-230A-4EC5-A201-3FF65A4B993D}" destId="{527F21BE-6949-4183-846E-AE3675671CC6}" srcOrd="0" destOrd="0" presId="urn:microsoft.com/office/officeart/2005/8/layout/vList2"/>
    <dgm:cxn modelId="{E7B66C4A-3643-4DE7-83B0-FA296D8B56CC}" type="presOf" srcId="{56B2B777-1AC7-4486-B9E2-C8AB3146D8D1}" destId="{26C85DE3-3C85-4496-BAD9-3ED14850B840}" srcOrd="0" destOrd="0" presId="urn:microsoft.com/office/officeart/2005/8/layout/vList2"/>
    <dgm:cxn modelId="{063E6155-E8A1-44A9-B9F6-C301929FAED0}" srcId="{CD98D0F2-A68D-4BDB-9419-C991645DA73A}" destId="{320BA4CB-230A-4EC5-A201-3FF65A4B993D}" srcOrd="0" destOrd="0" parTransId="{9B62432E-0F28-4A39-BCBE-135DA6081A22}" sibTransId="{9699BD25-EB2B-4D4D-90F0-EE313CB66299}"/>
    <dgm:cxn modelId="{BBA7A289-161B-4BC1-88D8-02139ADBADEF}" type="presOf" srcId="{B5753992-4D3C-47BA-AA28-E66E9729C345}" destId="{2F47331F-E229-455F-AC75-8A93BD977EC2}" srcOrd="0" destOrd="0" presId="urn:microsoft.com/office/officeart/2005/8/layout/vList2"/>
    <dgm:cxn modelId="{1EF59EC1-F4CA-4A17-80E4-E7DAECB058E2}" srcId="{ED41426B-58AC-4AB8-9CE3-CF6532127662}" destId="{B5753992-4D3C-47BA-AA28-E66E9729C345}" srcOrd="1" destOrd="0" parTransId="{C27E5606-6624-4B5B-8FB6-A85CA922E595}" sibTransId="{8F01BE72-1A4C-4DEC-A4F3-AECEB2CE7BE4}"/>
    <dgm:cxn modelId="{7DA045C2-26D8-4B4C-82C7-8993C7B24CD5}" type="presOf" srcId="{CD98D0F2-A68D-4BDB-9419-C991645DA73A}" destId="{B6CAFAE9-3B93-4013-8FAA-20C468541140}" srcOrd="0" destOrd="0" presId="urn:microsoft.com/office/officeart/2005/8/layout/vList2"/>
    <dgm:cxn modelId="{032847CA-9053-40C6-8653-DDC472579319}" type="presOf" srcId="{ED41426B-58AC-4AB8-9CE3-CF6532127662}" destId="{30332B56-5F6C-4205-B42B-2527797AB485}" srcOrd="0" destOrd="0" presId="urn:microsoft.com/office/officeart/2005/8/layout/vList2"/>
    <dgm:cxn modelId="{A3CCFCDA-38E7-4946-A298-4EF2EA767555}" srcId="{ED41426B-58AC-4AB8-9CE3-CF6532127662}" destId="{CD98D0F2-A68D-4BDB-9419-C991645DA73A}" srcOrd="0" destOrd="0" parTransId="{EE1B079A-E791-4643-B35D-3B24861510FE}" sibTransId="{74CFD232-696E-4098-8B13-42917B70CD8E}"/>
    <dgm:cxn modelId="{90DE5DF9-061A-43BF-A597-1372E3D73D5D}" srcId="{B5753992-4D3C-47BA-AA28-E66E9729C345}" destId="{56B2B777-1AC7-4486-B9E2-C8AB3146D8D1}" srcOrd="0" destOrd="0" parTransId="{715CEF61-465F-4FF3-B939-9966B2153F7D}" sibTransId="{C8924821-F2D1-438F-8A05-BA972810571E}"/>
    <dgm:cxn modelId="{C32BA86C-20FF-4959-B17C-E4B6A5D47880}" type="presParOf" srcId="{30332B56-5F6C-4205-B42B-2527797AB485}" destId="{B6CAFAE9-3B93-4013-8FAA-20C468541140}" srcOrd="0" destOrd="0" presId="urn:microsoft.com/office/officeart/2005/8/layout/vList2"/>
    <dgm:cxn modelId="{3569C9C1-0549-465D-BE2B-E5B8F4FE0098}" type="presParOf" srcId="{30332B56-5F6C-4205-B42B-2527797AB485}" destId="{527F21BE-6949-4183-846E-AE3675671CC6}" srcOrd="1" destOrd="0" presId="urn:microsoft.com/office/officeart/2005/8/layout/vList2"/>
    <dgm:cxn modelId="{41715E96-3626-44B0-B493-7F2BC220EA65}" type="presParOf" srcId="{30332B56-5F6C-4205-B42B-2527797AB485}" destId="{2F47331F-E229-455F-AC75-8A93BD977EC2}" srcOrd="2" destOrd="0" presId="urn:microsoft.com/office/officeart/2005/8/layout/vList2"/>
    <dgm:cxn modelId="{BA7FE36F-7BD5-4A56-B805-A7DC70B41E9C}" type="presParOf" srcId="{30332B56-5F6C-4205-B42B-2527797AB485}" destId="{26C85DE3-3C85-4496-BAD9-3ED14850B840}"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C774FD0-6BAA-48A1-A8D4-ECEC0F3D58BC}"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en-ID"/>
        </a:p>
      </dgm:t>
    </dgm:pt>
    <dgm:pt modelId="{9E6BAD9A-E0B1-4E5B-AB94-8F2F0EECDAA9}">
      <dgm:prSet phldrT="[Text]"/>
      <dgm:spPr/>
      <dgm:t>
        <a:bodyPr/>
        <a:lstStyle/>
        <a:p>
          <a:r>
            <a:rPr lang="en-ID" dirty="0"/>
            <a:t>The B2B Focus</a:t>
          </a:r>
        </a:p>
      </dgm:t>
    </dgm:pt>
    <dgm:pt modelId="{3C7890F3-C020-493E-86D6-7861D67CF1AA}" type="parTrans" cxnId="{82E70A69-3C6B-4480-8647-85524F4F2E60}">
      <dgm:prSet/>
      <dgm:spPr/>
      <dgm:t>
        <a:bodyPr/>
        <a:lstStyle/>
        <a:p>
          <a:endParaRPr lang="en-ID"/>
        </a:p>
      </dgm:t>
    </dgm:pt>
    <dgm:pt modelId="{F8231E56-A4E4-4E3F-9BC5-CD611F20072E}" type="sibTrans" cxnId="{82E70A69-3C6B-4480-8647-85524F4F2E60}">
      <dgm:prSet/>
      <dgm:spPr/>
      <dgm:t>
        <a:bodyPr/>
        <a:lstStyle/>
        <a:p>
          <a:endParaRPr lang="en-ID"/>
        </a:p>
      </dgm:t>
    </dgm:pt>
    <dgm:pt modelId="{FADE0FF6-8446-4E89-8A1A-4257F21C4EC9}">
      <dgm:prSet phldrT="[Text]"/>
      <dgm:spPr/>
      <dgm:t>
        <a:bodyPr/>
        <a:lstStyle/>
        <a:p>
          <a:pPr algn="l"/>
          <a:r>
            <a:rPr lang="en-US" dirty="0"/>
            <a:t>Budget Allocation Risk. Marketing spends heavy capital acquiring merchants based on conversion volume rather than actual downstream merchant value.</a:t>
          </a:r>
          <a:endParaRPr lang="en-ID" dirty="0"/>
        </a:p>
      </dgm:t>
    </dgm:pt>
    <dgm:pt modelId="{474BDD6E-032E-4262-958E-5979AF0F45A9}" type="parTrans" cxnId="{55C6D7F4-8B81-444D-8726-B5E096069E7E}">
      <dgm:prSet/>
      <dgm:spPr/>
      <dgm:t>
        <a:bodyPr/>
        <a:lstStyle/>
        <a:p>
          <a:endParaRPr lang="en-ID"/>
        </a:p>
      </dgm:t>
    </dgm:pt>
    <dgm:pt modelId="{C0114589-182C-4982-AB46-BF0442F5144E}" type="sibTrans" cxnId="{55C6D7F4-8B81-444D-8726-B5E096069E7E}">
      <dgm:prSet/>
      <dgm:spPr/>
      <dgm:t>
        <a:bodyPr/>
        <a:lstStyle/>
        <a:p>
          <a:endParaRPr lang="en-ID"/>
        </a:p>
      </dgm:t>
    </dgm:pt>
    <dgm:pt modelId="{769FDC8F-85F9-4C4C-AD43-7F53218E8C2B}">
      <dgm:prSet phldrT="[Text]"/>
      <dgm:spPr/>
      <dgm:t>
        <a:bodyPr/>
        <a:lstStyle/>
        <a:p>
          <a:r>
            <a:rPr lang="en-ID" dirty="0"/>
            <a:t>The B2C Focus</a:t>
          </a:r>
        </a:p>
      </dgm:t>
    </dgm:pt>
    <dgm:pt modelId="{3CEB5973-0354-4615-8426-427B1A70599D}" type="parTrans" cxnId="{217FABDD-384F-47C7-A888-B6F645E2E657}">
      <dgm:prSet/>
      <dgm:spPr/>
      <dgm:t>
        <a:bodyPr/>
        <a:lstStyle/>
        <a:p>
          <a:endParaRPr lang="en-ID"/>
        </a:p>
      </dgm:t>
    </dgm:pt>
    <dgm:pt modelId="{14BB7392-81F7-4F9D-A115-71848C8CD649}" type="sibTrans" cxnId="{217FABDD-384F-47C7-A888-B6F645E2E657}">
      <dgm:prSet/>
      <dgm:spPr/>
      <dgm:t>
        <a:bodyPr/>
        <a:lstStyle/>
        <a:p>
          <a:endParaRPr lang="en-ID"/>
        </a:p>
      </dgm:t>
    </dgm:pt>
    <dgm:pt modelId="{BC1090D6-7919-4465-8864-B7C73D2BEFA3}">
      <dgm:prSet phldrT="[Text]"/>
      <dgm:spPr/>
      <dgm:t>
        <a:bodyPr/>
        <a:lstStyle/>
        <a:p>
          <a:r>
            <a:rPr lang="en-US" dirty="0"/>
            <a:t>The Leaky Bucket Phenomenon. Growth breaks down completely if newly acquired merchant inventory fails to generate compounding, high-value repeat customer behavior.</a:t>
          </a:r>
          <a:endParaRPr lang="en-ID" dirty="0"/>
        </a:p>
      </dgm:t>
    </dgm:pt>
    <dgm:pt modelId="{16074A62-BD55-48F7-9701-AD9CE9FCEE34}" type="parTrans" cxnId="{3DB21219-E39E-4DC6-9E77-6ECB969F6A36}">
      <dgm:prSet/>
      <dgm:spPr/>
      <dgm:t>
        <a:bodyPr/>
        <a:lstStyle/>
        <a:p>
          <a:endParaRPr lang="en-ID"/>
        </a:p>
      </dgm:t>
    </dgm:pt>
    <dgm:pt modelId="{E8F25C98-D3A3-431D-ACBE-73A1FB8D8FD7}" type="sibTrans" cxnId="{3DB21219-E39E-4DC6-9E77-6ECB969F6A36}">
      <dgm:prSet/>
      <dgm:spPr/>
      <dgm:t>
        <a:bodyPr/>
        <a:lstStyle/>
        <a:p>
          <a:endParaRPr lang="en-ID"/>
        </a:p>
      </dgm:t>
    </dgm:pt>
    <dgm:pt modelId="{689C4A94-081E-45FD-9B61-42228A3E2A47}" type="pres">
      <dgm:prSet presAssocID="{BC774FD0-6BAA-48A1-A8D4-ECEC0F3D58BC}" presName="Name0" presStyleCnt="0">
        <dgm:presLayoutVars>
          <dgm:dir/>
          <dgm:animLvl val="lvl"/>
          <dgm:resizeHandles val="exact"/>
        </dgm:presLayoutVars>
      </dgm:prSet>
      <dgm:spPr/>
    </dgm:pt>
    <dgm:pt modelId="{9235834B-D4C5-4C8B-8790-F663EE1603FB}" type="pres">
      <dgm:prSet presAssocID="{9E6BAD9A-E0B1-4E5B-AB94-8F2F0EECDAA9}" presName="composite" presStyleCnt="0"/>
      <dgm:spPr/>
    </dgm:pt>
    <dgm:pt modelId="{C4C1B229-0A1B-4C60-954B-A1BC03717097}" type="pres">
      <dgm:prSet presAssocID="{9E6BAD9A-E0B1-4E5B-AB94-8F2F0EECDAA9}" presName="parTx" presStyleLbl="alignNode1" presStyleIdx="0" presStyleCnt="2">
        <dgm:presLayoutVars>
          <dgm:chMax val="0"/>
          <dgm:chPref val="0"/>
          <dgm:bulletEnabled val="1"/>
        </dgm:presLayoutVars>
      </dgm:prSet>
      <dgm:spPr/>
    </dgm:pt>
    <dgm:pt modelId="{EA2E080C-5C2D-41D7-AF8D-D2ABB45B6C53}" type="pres">
      <dgm:prSet presAssocID="{9E6BAD9A-E0B1-4E5B-AB94-8F2F0EECDAA9}" presName="desTx" presStyleLbl="alignAccFollowNode1" presStyleIdx="0" presStyleCnt="2">
        <dgm:presLayoutVars>
          <dgm:bulletEnabled val="1"/>
        </dgm:presLayoutVars>
      </dgm:prSet>
      <dgm:spPr/>
    </dgm:pt>
    <dgm:pt modelId="{4681D200-A395-401F-9635-771054640502}" type="pres">
      <dgm:prSet presAssocID="{F8231E56-A4E4-4E3F-9BC5-CD611F20072E}" presName="space" presStyleCnt="0"/>
      <dgm:spPr/>
    </dgm:pt>
    <dgm:pt modelId="{6366D5F3-DD14-4498-A78C-8B95CAF3C8B6}" type="pres">
      <dgm:prSet presAssocID="{769FDC8F-85F9-4C4C-AD43-7F53218E8C2B}" presName="composite" presStyleCnt="0"/>
      <dgm:spPr/>
    </dgm:pt>
    <dgm:pt modelId="{3E8AF1CB-71F8-4463-BC52-570613E31FF8}" type="pres">
      <dgm:prSet presAssocID="{769FDC8F-85F9-4C4C-AD43-7F53218E8C2B}" presName="parTx" presStyleLbl="alignNode1" presStyleIdx="1" presStyleCnt="2">
        <dgm:presLayoutVars>
          <dgm:chMax val="0"/>
          <dgm:chPref val="0"/>
          <dgm:bulletEnabled val="1"/>
        </dgm:presLayoutVars>
      </dgm:prSet>
      <dgm:spPr/>
    </dgm:pt>
    <dgm:pt modelId="{91A25EB4-58FF-4B5E-99B7-8CB07ADE44AD}" type="pres">
      <dgm:prSet presAssocID="{769FDC8F-85F9-4C4C-AD43-7F53218E8C2B}" presName="desTx" presStyleLbl="alignAccFollowNode1" presStyleIdx="1" presStyleCnt="2">
        <dgm:presLayoutVars>
          <dgm:bulletEnabled val="1"/>
        </dgm:presLayoutVars>
      </dgm:prSet>
      <dgm:spPr/>
    </dgm:pt>
  </dgm:ptLst>
  <dgm:cxnLst>
    <dgm:cxn modelId="{3DB21219-E39E-4DC6-9E77-6ECB969F6A36}" srcId="{769FDC8F-85F9-4C4C-AD43-7F53218E8C2B}" destId="{BC1090D6-7919-4465-8864-B7C73D2BEFA3}" srcOrd="0" destOrd="0" parTransId="{16074A62-BD55-48F7-9701-AD9CE9FCEE34}" sibTransId="{E8F25C98-D3A3-431D-ACBE-73A1FB8D8FD7}"/>
    <dgm:cxn modelId="{161B6F2F-AF62-47A6-8F86-72D5C7D39E82}" type="presOf" srcId="{BC774FD0-6BAA-48A1-A8D4-ECEC0F3D58BC}" destId="{689C4A94-081E-45FD-9B61-42228A3E2A47}" srcOrd="0" destOrd="0" presId="urn:microsoft.com/office/officeart/2005/8/layout/hList1"/>
    <dgm:cxn modelId="{4CE7C044-A585-4780-8B4B-93BB67E7575D}" type="presOf" srcId="{9E6BAD9A-E0B1-4E5B-AB94-8F2F0EECDAA9}" destId="{C4C1B229-0A1B-4C60-954B-A1BC03717097}" srcOrd="0" destOrd="0" presId="urn:microsoft.com/office/officeart/2005/8/layout/hList1"/>
    <dgm:cxn modelId="{82E70A69-3C6B-4480-8647-85524F4F2E60}" srcId="{BC774FD0-6BAA-48A1-A8D4-ECEC0F3D58BC}" destId="{9E6BAD9A-E0B1-4E5B-AB94-8F2F0EECDAA9}" srcOrd="0" destOrd="0" parTransId="{3C7890F3-C020-493E-86D6-7861D67CF1AA}" sibTransId="{F8231E56-A4E4-4E3F-9BC5-CD611F20072E}"/>
    <dgm:cxn modelId="{7417EE96-F761-4197-A2B8-40CD871968EB}" type="presOf" srcId="{FADE0FF6-8446-4E89-8A1A-4257F21C4EC9}" destId="{EA2E080C-5C2D-41D7-AF8D-D2ABB45B6C53}" srcOrd="0" destOrd="0" presId="urn:microsoft.com/office/officeart/2005/8/layout/hList1"/>
    <dgm:cxn modelId="{E7BBF2A9-3A76-4280-A093-8B162B56DE2D}" type="presOf" srcId="{769FDC8F-85F9-4C4C-AD43-7F53218E8C2B}" destId="{3E8AF1CB-71F8-4463-BC52-570613E31FF8}" srcOrd="0" destOrd="0" presId="urn:microsoft.com/office/officeart/2005/8/layout/hList1"/>
    <dgm:cxn modelId="{217FABDD-384F-47C7-A888-B6F645E2E657}" srcId="{BC774FD0-6BAA-48A1-A8D4-ECEC0F3D58BC}" destId="{769FDC8F-85F9-4C4C-AD43-7F53218E8C2B}" srcOrd="1" destOrd="0" parTransId="{3CEB5973-0354-4615-8426-427B1A70599D}" sibTransId="{14BB7392-81F7-4F9D-A115-71848C8CD649}"/>
    <dgm:cxn modelId="{EFF798E6-E6FB-4B0A-99AB-158E52DE8703}" type="presOf" srcId="{BC1090D6-7919-4465-8864-B7C73D2BEFA3}" destId="{91A25EB4-58FF-4B5E-99B7-8CB07ADE44AD}" srcOrd="0" destOrd="0" presId="urn:microsoft.com/office/officeart/2005/8/layout/hList1"/>
    <dgm:cxn modelId="{55C6D7F4-8B81-444D-8726-B5E096069E7E}" srcId="{9E6BAD9A-E0B1-4E5B-AB94-8F2F0EECDAA9}" destId="{FADE0FF6-8446-4E89-8A1A-4257F21C4EC9}" srcOrd="0" destOrd="0" parTransId="{474BDD6E-032E-4262-958E-5979AF0F45A9}" sibTransId="{C0114589-182C-4982-AB46-BF0442F5144E}"/>
    <dgm:cxn modelId="{47E9173B-B148-48C8-8EDF-BCD74A8BACC8}" type="presParOf" srcId="{689C4A94-081E-45FD-9B61-42228A3E2A47}" destId="{9235834B-D4C5-4C8B-8790-F663EE1603FB}" srcOrd="0" destOrd="0" presId="urn:microsoft.com/office/officeart/2005/8/layout/hList1"/>
    <dgm:cxn modelId="{E22FF201-C09A-4E0E-866B-FFB1DDFA4910}" type="presParOf" srcId="{9235834B-D4C5-4C8B-8790-F663EE1603FB}" destId="{C4C1B229-0A1B-4C60-954B-A1BC03717097}" srcOrd="0" destOrd="0" presId="urn:microsoft.com/office/officeart/2005/8/layout/hList1"/>
    <dgm:cxn modelId="{992B3C96-76EE-453A-8DA8-DD4DDC486E4A}" type="presParOf" srcId="{9235834B-D4C5-4C8B-8790-F663EE1603FB}" destId="{EA2E080C-5C2D-41D7-AF8D-D2ABB45B6C53}" srcOrd="1" destOrd="0" presId="urn:microsoft.com/office/officeart/2005/8/layout/hList1"/>
    <dgm:cxn modelId="{917303C1-7689-4D87-B352-C1486DD39B3E}" type="presParOf" srcId="{689C4A94-081E-45FD-9B61-42228A3E2A47}" destId="{4681D200-A395-401F-9635-771054640502}" srcOrd="1" destOrd="0" presId="urn:microsoft.com/office/officeart/2005/8/layout/hList1"/>
    <dgm:cxn modelId="{33137739-E5CC-4592-A5F2-B8B49ED98C50}" type="presParOf" srcId="{689C4A94-081E-45FD-9B61-42228A3E2A47}" destId="{6366D5F3-DD14-4498-A78C-8B95CAF3C8B6}" srcOrd="2" destOrd="0" presId="urn:microsoft.com/office/officeart/2005/8/layout/hList1"/>
    <dgm:cxn modelId="{0CF0612F-F938-4F09-81F4-492D4E480954}" type="presParOf" srcId="{6366D5F3-DD14-4498-A78C-8B95CAF3C8B6}" destId="{3E8AF1CB-71F8-4463-BC52-570613E31FF8}" srcOrd="0" destOrd="0" presId="urn:microsoft.com/office/officeart/2005/8/layout/hList1"/>
    <dgm:cxn modelId="{27CF497A-7927-4EC3-89F4-1932F314D3A5}" type="presParOf" srcId="{6366D5F3-DD14-4498-A78C-8B95CAF3C8B6}" destId="{91A25EB4-58FF-4B5E-99B7-8CB07ADE44AD}"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D41426B-58AC-4AB8-9CE3-CF653212766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D"/>
        </a:p>
      </dgm:t>
    </dgm:pt>
    <dgm:pt modelId="{CD98D0F2-A68D-4BDB-9419-C991645DA73A}">
      <dgm:prSet phldrT="[Text]"/>
      <dgm:spPr/>
      <dgm:t>
        <a:bodyPr/>
        <a:lstStyle/>
        <a:p>
          <a:r>
            <a:rPr lang="en-ID"/>
            <a:t>The Operational Problem</a:t>
          </a:r>
          <a:endParaRPr lang="en-ID" dirty="0"/>
        </a:p>
      </dgm:t>
    </dgm:pt>
    <dgm:pt modelId="{EE1B079A-E791-4643-B35D-3B24861510FE}" type="parTrans" cxnId="{A3CCFCDA-38E7-4946-A298-4EF2EA767555}">
      <dgm:prSet/>
      <dgm:spPr/>
      <dgm:t>
        <a:bodyPr/>
        <a:lstStyle/>
        <a:p>
          <a:endParaRPr lang="en-ID"/>
        </a:p>
      </dgm:t>
    </dgm:pt>
    <dgm:pt modelId="{74CFD232-696E-4098-8B13-42917B70CD8E}" type="sibTrans" cxnId="{A3CCFCDA-38E7-4946-A298-4EF2EA767555}">
      <dgm:prSet/>
      <dgm:spPr/>
      <dgm:t>
        <a:bodyPr/>
        <a:lstStyle/>
        <a:p>
          <a:endParaRPr lang="en-ID"/>
        </a:p>
      </dgm:t>
    </dgm:pt>
    <dgm:pt modelId="{320BA4CB-230A-4EC5-A201-3FF65A4B993D}">
      <dgm:prSet phldrT="[Text]"/>
      <dgm:spPr/>
      <dgm:t>
        <a:bodyPr/>
        <a:lstStyle/>
        <a:p>
          <a:r>
            <a:rPr lang="en-US"/>
            <a:t>Forcing front-end visualization engines (like Power BI or Tableau) to compute massive, row-by-row timestamp difference loops creates crippling processing lag and system crashes.</a:t>
          </a:r>
          <a:endParaRPr lang="en-ID" dirty="0"/>
        </a:p>
      </dgm:t>
    </dgm:pt>
    <dgm:pt modelId="{9B62432E-0F28-4A39-BCBE-135DA6081A22}" type="parTrans" cxnId="{063E6155-E8A1-44A9-B9F6-C301929FAED0}">
      <dgm:prSet/>
      <dgm:spPr/>
      <dgm:t>
        <a:bodyPr/>
        <a:lstStyle/>
        <a:p>
          <a:endParaRPr lang="en-ID"/>
        </a:p>
      </dgm:t>
    </dgm:pt>
    <dgm:pt modelId="{9699BD25-EB2B-4D4D-90F0-EE313CB66299}" type="sibTrans" cxnId="{063E6155-E8A1-44A9-B9F6-C301929FAED0}">
      <dgm:prSet/>
      <dgm:spPr/>
      <dgm:t>
        <a:bodyPr/>
        <a:lstStyle/>
        <a:p>
          <a:endParaRPr lang="en-ID"/>
        </a:p>
      </dgm:t>
    </dgm:pt>
    <dgm:pt modelId="{B5753992-4D3C-47BA-AA28-E66E9729C345}">
      <dgm:prSet phldrT="[Text]"/>
      <dgm:spPr/>
      <dgm:t>
        <a:bodyPr/>
        <a:lstStyle/>
        <a:p>
          <a:r>
            <a:rPr lang="en-ID"/>
            <a:t>The Engineering Solution</a:t>
          </a:r>
          <a:endParaRPr lang="en-ID" dirty="0"/>
        </a:p>
      </dgm:t>
    </dgm:pt>
    <dgm:pt modelId="{C27E5606-6624-4B5B-8FB6-A85CA922E595}" type="parTrans" cxnId="{1EF59EC1-F4CA-4A17-80E4-E7DAECB058E2}">
      <dgm:prSet/>
      <dgm:spPr/>
      <dgm:t>
        <a:bodyPr/>
        <a:lstStyle/>
        <a:p>
          <a:endParaRPr lang="en-ID"/>
        </a:p>
      </dgm:t>
    </dgm:pt>
    <dgm:pt modelId="{8F01BE72-1A4C-4DEC-A4F3-AECEB2CE7BE4}" type="sibTrans" cxnId="{1EF59EC1-F4CA-4A17-80E4-E7DAECB058E2}">
      <dgm:prSet/>
      <dgm:spPr/>
      <dgm:t>
        <a:bodyPr/>
        <a:lstStyle/>
        <a:p>
          <a:endParaRPr lang="en-ID"/>
        </a:p>
      </dgm:t>
    </dgm:pt>
    <dgm:pt modelId="{56B2B777-1AC7-4486-B9E2-C8AB3146D8D1}">
      <dgm:prSet phldrT="[Text]"/>
      <dgm:spPr/>
      <dgm:t>
        <a:bodyPr/>
        <a:lstStyle/>
        <a:p>
          <a:r>
            <a:rPr lang="en-US" dirty="0"/>
            <a:t>I built an optimized relational analytics warehouse layer directly inside the local SQL Server instance, offloading all heavy transformations and window calculations to the database cluster.</a:t>
          </a:r>
          <a:endParaRPr lang="en-ID" dirty="0"/>
        </a:p>
      </dgm:t>
    </dgm:pt>
    <dgm:pt modelId="{715CEF61-465F-4FF3-B939-9966B2153F7D}" type="parTrans" cxnId="{90DE5DF9-061A-43BF-A597-1372E3D73D5D}">
      <dgm:prSet/>
      <dgm:spPr/>
      <dgm:t>
        <a:bodyPr/>
        <a:lstStyle/>
        <a:p>
          <a:endParaRPr lang="en-ID"/>
        </a:p>
      </dgm:t>
    </dgm:pt>
    <dgm:pt modelId="{C8924821-F2D1-438F-8A05-BA972810571E}" type="sibTrans" cxnId="{90DE5DF9-061A-43BF-A597-1372E3D73D5D}">
      <dgm:prSet/>
      <dgm:spPr/>
      <dgm:t>
        <a:bodyPr/>
        <a:lstStyle/>
        <a:p>
          <a:endParaRPr lang="en-ID"/>
        </a:p>
      </dgm:t>
    </dgm:pt>
    <dgm:pt modelId="{30332B56-5F6C-4205-B42B-2527797AB485}" type="pres">
      <dgm:prSet presAssocID="{ED41426B-58AC-4AB8-9CE3-CF6532127662}" presName="linear" presStyleCnt="0">
        <dgm:presLayoutVars>
          <dgm:animLvl val="lvl"/>
          <dgm:resizeHandles val="exact"/>
        </dgm:presLayoutVars>
      </dgm:prSet>
      <dgm:spPr/>
    </dgm:pt>
    <dgm:pt modelId="{B6CAFAE9-3B93-4013-8FAA-20C468541140}" type="pres">
      <dgm:prSet presAssocID="{CD98D0F2-A68D-4BDB-9419-C991645DA73A}" presName="parentText" presStyleLbl="node1" presStyleIdx="0" presStyleCnt="2">
        <dgm:presLayoutVars>
          <dgm:chMax val="0"/>
          <dgm:bulletEnabled val="1"/>
        </dgm:presLayoutVars>
      </dgm:prSet>
      <dgm:spPr/>
    </dgm:pt>
    <dgm:pt modelId="{527F21BE-6949-4183-846E-AE3675671CC6}" type="pres">
      <dgm:prSet presAssocID="{CD98D0F2-A68D-4BDB-9419-C991645DA73A}" presName="childText" presStyleLbl="revTx" presStyleIdx="0" presStyleCnt="2">
        <dgm:presLayoutVars>
          <dgm:bulletEnabled val="1"/>
        </dgm:presLayoutVars>
      </dgm:prSet>
      <dgm:spPr/>
    </dgm:pt>
    <dgm:pt modelId="{2F47331F-E229-455F-AC75-8A93BD977EC2}" type="pres">
      <dgm:prSet presAssocID="{B5753992-4D3C-47BA-AA28-E66E9729C345}" presName="parentText" presStyleLbl="node1" presStyleIdx="1" presStyleCnt="2">
        <dgm:presLayoutVars>
          <dgm:chMax val="0"/>
          <dgm:bulletEnabled val="1"/>
        </dgm:presLayoutVars>
      </dgm:prSet>
      <dgm:spPr/>
    </dgm:pt>
    <dgm:pt modelId="{26C85DE3-3C85-4496-BAD9-3ED14850B840}" type="pres">
      <dgm:prSet presAssocID="{B5753992-4D3C-47BA-AA28-E66E9729C345}" presName="childText" presStyleLbl="revTx" presStyleIdx="1" presStyleCnt="2">
        <dgm:presLayoutVars>
          <dgm:bulletEnabled val="1"/>
        </dgm:presLayoutVars>
      </dgm:prSet>
      <dgm:spPr/>
    </dgm:pt>
  </dgm:ptLst>
  <dgm:cxnLst>
    <dgm:cxn modelId="{CE0ED460-BD76-4EEE-9A74-633E77E5BA8F}" type="presOf" srcId="{320BA4CB-230A-4EC5-A201-3FF65A4B993D}" destId="{527F21BE-6949-4183-846E-AE3675671CC6}" srcOrd="0" destOrd="0" presId="urn:microsoft.com/office/officeart/2005/8/layout/vList2"/>
    <dgm:cxn modelId="{E7B66C4A-3643-4DE7-83B0-FA296D8B56CC}" type="presOf" srcId="{56B2B777-1AC7-4486-B9E2-C8AB3146D8D1}" destId="{26C85DE3-3C85-4496-BAD9-3ED14850B840}" srcOrd="0" destOrd="0" presId="urn:microsoft.com/office/officeart/2005/8/layout/vList2"/>
    <dgm:cxn modelId="{063E6155-E8A1-44A9-B9F6-C301929FAED0}" srcId="{CD98D0F2-A68D-4BDB-9419-C991645DA73A}" destId="{320BA4CB-230A-4EC5-A201-3FF65A4B993D}" srcOrd="0" destOrd="0" parTransId="{9B62432E-0F28-4A39-BCBE-135DA6081A22}" sibTransId="{9699BD25-EB2B-4D4D-90F0-EE313CB66299}"/>
    <dgm:cxn modelId="{BBA7A289-161B-4BC1-88D8-02139ADBADEF}" type="presOf" srcId="{B5753992-4D3C-47BA-AA28-E66E9729C345}" destId="{2F47331F-E229-455F-AC75-8A93BD977EC2}" srcOrd="0" destOrd="0" presId="urn:microsoft.com/office/officeart/2005/8/layout/vList2"/>
    <dgm:cxn modelId="{1EF59EC1-F4CA-4A17-80E4-E7DAECB058E2}" srcId="{ED41426B-58AC-4AB8-9CE3-CF6532127662}" destId="{B5753992-4D3C-47BA-AA28-E66E9729C345}" srcOrd="1" destOrd="0" parTransId="{C27E5606-6624-4B5B-8FB6-A85CA922E595}" sibTransId="{8F01BE72-1A4C-4DEC-A4F3-AECEB2CE7BE4}"/>
    <dgm:cxn modelId="{7DA045C2-26D8-4B4C-82C7-8993C7B24CD5}" type="presOf" srcId="{CD98D0F2-A68D-4BDB-9419-C991645DA73A}" destId="{B6CAFAE9-3B93-4013-8FAA-20C468541140}" srcOrd="0" destOrd="0" presId="urn:microsoft.com/office/officeart/2005/8/layout/vList2"/>
    <dgm:cxn modelId="{032847CA-9053-40C6-8653-DDC472579319}" type="presOf" srcId="{ED41426B-58AC-4AB8-9CE3-CF6532127662}" destId="{30332B56-5F6C-4205-B42B-2527797AB485}" srcOrd="0" destOrd="0" presId="urn:microsoft.com/office/officeart/2005/8/layout/vList2"/>
    <dgm:cxn modelId="{A3CCFCDA-38E7-4946-A298-4EF2EA767555}" srcId="{ED41426B-58AC-4AB8-9CE3-CF6532127662}" destId="{CD98D0F2-A68D-4BDB-9419-C991645DA73A}" srcOrd="0" destOrd="0" parTransId="{EE1B079A-E791-4643-B35D-3B24861510FE}" sibTransId="{74CFD232-696E-4098-8B13-42917B70CD8E}"/>
    <dgm:cxn modelId="{90DE5DF9-061A-43BF-A597-1372E3D73D5D}" srcId="{B5753992-4D3C-47BA-AA28-E66E9729C345}" destId="{56B2B777-1AC7-4486-B9E2-C8AB3146D8D1}" srcOrd="0" destOrd="0" parTransId="{715CEF61-465F-4FF3-B939-9966B2153F7D}" sibTransId="{C8924821-F2D1-438F-8A05-BA972810571E}"/>
    <dgm:cxn modelId="{C32BA86C-20FF-4959-B17C-E4B6A5D47880}" type="presParOf" srcId="{30332B56-5F6C-4205-B42B-2527797AB485}" destId="{B6CAFAE9-3B93-4013-8FAA-20C468541140}" srcOrd="0" destOrd="0" presId="urn:microsoft.com/office/officeart/2005/8/layout/vList2"/>
    <dgm:cxn modelId="{3569C9C1-0549-465D-BE2B-E5B8F4FE0098}" type="presParOf" srcId="{30332B56-5F6C-4205-B42B-2527797AB485}" destId="{527F21BE-6949-4183-846E-AE3675671CC6}" srcOrd="1" destOrd="0" presId="urn:microsoft.com/office/officeart/2005/8/layout/vList2"/>
    <dgm:cxn modelId="{41715E96-3626-44B0-B493-7F2BC220EA65}" type="presParOf" srcId="{30332B56-5F6C-4205-B42B-2527797AB485}" destId="{2F47331F-E229-455F-AC75-8A93BD977EC2}" srcOrd="2" destOrd="0" presId="urn:microsoft.com/office/officeart/2005/8/layout/vList2"/>
    <dgm:cxn modelId="{BA7FE36F-7BD5-4A56-B805-A7DC70B41E9C}" type="presParOf" srcId="{30332B56-5F6C-4205-B42B-2527797AB485}" destId="{26C85DE3-3C85-4496-BAD9-3ED14850B840}"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AC2EF8D-C59B-4DD2-AC1D-E2CBF246AB1D}" type="doc">
      <dgm:prSet loTypeId="urn:microsoft.com/office/officeart/2005/8/layout/process1" loCatId="process" qsTypeId="urn:microsoft.com/office/officeart/2005/8/quickstyle/simple1" qsCatId="simple" csTypeId="urn:microsoft.com/office/officeart/2005/8/colors/accent0_3" csCatId="mainScheme" phldr="1"/>
      <dgm:spPr/>
    </dgm:pt>
    <dgm:pt modelId="{86BA0091-C2BE-434D-8C59-C874C628678B}">
      <dgm:prSet phldrT="[Text]"/>
      <dgm:spPr/>
      <dgm:t>
        <a:bodyPr/>
        <a:lstStyle/>
        <a:p>
          <a:r>
            <a:rPr lang="en-ID" dirty="0"/>
            <a:t>Raw CSV Source Tables</a:t>
          </a:r>
        </a:p>
      </dgm:t>
    </dgm:pt>
    <dgm:pt modelId="{021CC775-B461-4FD8-89F1-91F66EA272FE}" type="parTrans" cxnId="{D2D661C6-0969-4ECA-AF51-EBBCC17B26F6}">
      <dgm:prSet/>
      <dgm:spPr/>
      <dgm:t>
        <a:bodyPr/>
        <a:lstStyle/>
        <a:p>
          <a:endParaRPr lang="en-ID"/>
        </a:p>
      </dgm:t>
    </dgm:pt>
    <dgm:pt modelId="{CB6FE2C6-5744-4F63-A4D4-EB07F2F7009A}" type="sibTrans" cxnId="{D2D661C6-0969-4ECA-AF51-EBBCC17B26F6}">
      <dgm:prSet/>
      <dgm:spPr/>
      <dgm:t>
        <a:bodyPr/>
        <a:lstStyle/>
        <a:p>
          <a:endParaRPr lang="en-ID"/>
        </a:p>
      </dgm:t>
    </dgm:pt>
    <dgm:pt modelId="{E97D3C63-58D3-4F80-A929-688CAFB398E7}">
      <dgm:prSet phldrT="[Text]"/>
      <dgm:spPr/>
      <dgm:t>
        <a:bodyPr/>
        <a:lstStyle/>
        <a:p>
          <a:r>
            <a:rPr lang="en-ID" dirty="0"/>
            <a:t>SQL Server Storage Layer (analytics Schema)</a:t>
          </a:r>
        </a:p>
      </dgm:t>
    </dgm:pt>
    <dgm:pt modelId="{69164122-6E2E-4BB1-9474-1DF43EDD0E70}" type="parTrans" cxnId="{71BF1545-C7E2-4F77-918A-AEFD7F67B198}">
      <dgm:prSet/>
      <dgm:spPr/>
      <dgm:t>
        <a:bodyPr/>
        <a:lstStyle/>
        <a:p>
          <a:endParaRPr lang="en-ID"/>
        </a:p>
      </dgm:t>
    </dgm:pt>
    <dgm:pt modelId="{460049F4-14BB-456D-A149-168F0F1E7F56}" type="sibTrans" cxnId="{71BF1545-C7E2-4F77-918A-AEFD7F67B198}">
      <dgm:prSet/>
      <dgm:spPr/>
      <dgm:t>
        <a:bodyPr/>
        <a:lstStyle/>
        <a:p>
          <a:endParaRPr lang="en-ID"/>
        </a:p>
      </dgm:t>
    </dgm:pt>
    <dgm:pt modelId="{C132B8D0-EBC8-460D-B321-3A731D934D81}">
      <dgm:prSet phldrT="[Text]"/>
      <dgm:spPr/>
      <dgm:t>
        <a:bodyPr/>
        <a:lstStyle/>
        <a:p>
          <a:r>
            <a:rPr lang="en-ID" dirty="0"/>
            <a:t>Lightweight </a:t>
          </a:r>
          <a:r>
            <a:rPr lang="en-ID" dirty="0" err="1"/>
            <a:t>Jupyter</a:t>
          </a:r>
          <a:r>
            <a:rPr lang="en-ID" dirty="0"/>
            <a:t> Notebook (.</a:t>
          </a:r>
          <a:r>
            <a:rPr lang="en-ID" dirty="0" err="1"/>
            <a:t>ipynb</a:t>
          </a:r>
          <a:r>
            <a:rPr lang="en-ID" dirty="0"/>
            <a:t>) / Power BI Desktop Interface</a:t>
          </a:r>
        </a:p>
      </dgm:t>
    </dgm:pt>
    <dgm:pt modelId="{12F61A1E-01B2-4F1E-A074-22650B245DCC}" type="parTrans" cxnId="{DA9388AD-2115-4312-A451-DD6A2F3F1F12}">
      <dgm:prSet/>
      <dgm:spPr/>
      <dgm:t>
        <a:bodyPr/>
        <a:lstStyle/>
        <a:p>
          <a:endParaRPr lang="en-ID"/>
        </a:p>
      </dgm:t>
    </dgm:pt>
    <dgm:pt modelId="{C4589978-5971-4076-B8D5-D7593D12FC03}" type="sibTrans" cxnId="{DA9388AD-2115-4312-A451-DD6A2F3F1F12}">
      <dgm:prSet/>
      <dgm:spPr/>
      <dgm:t>
        <a:bodyPr/>
        <a:lstStyle/>
        <a:p>
          <a:endParaRPr lang="en-ID"/>
        </a:p>
      </dgm:t>
    </dgm:pt>
    <dgm:pt modelId="{C25A5D9F-D220-443C-99BB-A12FAD26F489}" type="pres">
      <dgm:prSet presAssocID="{4AC2EF8D-C59B-4DD2-AC1D-E2CBF246AB1D}" presName="Name0" presStyleCnt="0">
        <dgm:presLayoutVars>
          <dgm:dir/>
          <dgm:resizeHandles val="exact"/>
        </dgm:presLayoutVars>
      </dgm:prSet>
      <dgm:spPr/>
    </dgm:pt>
    <dgm:pt modelId="{EE822454-BB6A-4FE4-A22E-FADBC55C482C}" type="pres">
      <dgm:prSet presAssocID="{86BA0091-C2BE-434D-8C59-C874C628678B}" presName="node" presStyleLbl="node1" presStyleIdx="0" presStyleCnt="3">
        <dgm:presLayoutVars>
          <dgm:bulletEnabled val="1"/>
        </dgm:presLayoutVars>
      </dgm:prSet>
      <dgm:spPr/>
    </dgm:pt>
    <dgm:pt modelId="{9A78D24D-9DC1-4EFD-8F50-DB73991215E1}" type="pres">
      <dgm:prSet presAssocID="{CB6FE2C6-5744-4F63-A4D4-EB07F2F7009A}" presName="sibTrans" presStyleLbl="sibTrans2D1" presStyleIdx="0" presStyleCnt="2"/>
      <dgm:spPr/>
    </dgm:pt>
    <dgm:pt modelId="{FB419EA3-B96A-4894-8A73-87FAD0C6B2C2}" type="pres">
      <dgm:prSet presAssocID="{CB6FE2C6-5744-4F63-A4D4-EB07F2F7009A}" presName="connectorText" presStyleLbl="sibTrans2D1" presStyleIdx="0" presStyleCnt="2"/>
      <dgm:spPr/>
    </dgm:pt>
    <dgm:pt modelId="{6787A11F-B7E3-468B-9A03-DE95A1C0F9BE}" type="pres">
      <dgm:prSet presAssocID="{E97D3C63-58D3-4F80-A929-688CAFB398E7}" presName="node" presStyleLbl="node1" presStyleIdx="1" presStyleCnt="3">
        <dgm:presLayoutVars>
          <dgm:bulletEnabled val="1"/>
        </dgm:presLayoutVars>
      </dgm:prSet>
      <dgm:spPr/>
    </dgm:pt>
    <dgm:pt modelId="{FEDA464A-5F3F-4678-AAFA-847F9DD12C79}" type="pres">
      <dgm:prSet presAssocID="{460049F4-14BB-456D-A149-168F0F1E7F56}" presName="sibTrans" presStyleLbl="sibTrans2D1" presStyleIdx="1" presStyleCnt="2"/>
      <dgm:spPr/>
    </dgm:pt>
    <dgm:pt modelId="{D0F8D0F9-64F6-4760-867F-431EB7F68CCD}" type="pres">
      <dgm:prSet presAssocID="{460049F4-14BB-456D-A149-168F0F1E7F56}" presName="connectorText" presStyleLbl="sibTrans2D1" presStyleIdx="1" presStyleCnt="2"/>
      <dgm:spPr/>
    </dgm:pt>
    <dgm:pt modelId="{61D1B85F-1AFF-4044-8AFA-1A01C181924C}" type="pres">
      <dgm:prSet presAssocID="{C132B8D0-EBC8-460D-B321-3A731D934D81}" presName="node" presStyleLbl="node1" presStyleIdx="2" presStyleCnt="3">
        <dgm:presLayoutVars>
          <dgm:bulletEnabled val="1"/>
        </dgm:presLayoutVars>
      </dgm:prSet>
      <dgm:spPr/>
    </dgm:pt>
  </dgm:ptLst>
  <dgm:cxnLst>
    <dgm:cxn modelId="{088FFF22-31E3-4446-830F-95EECDD75E39}" type="presOf" srcId="{C132B8D0-EBC8-460D-B321-3A731D934D81}" destId="{61D1B85F-1AFF-4044-8AFA-1A01C181924C}" srcOrd="0" destOrd="0" presId="urn:microsoft.com/office/officeart/2005/8/layout/process1"/>
    <dgm:cxn modelId="{71BF1545-C7E2-4F77-918A-AEFD7F67B198}" srcId="{4AC2EF8D-C59B-4DD2-AC1D-E2CBF246AB1D}" destId="{E97D3C63-58D3-4F80-A929-688CAFB398E7}" srcOrd="1" destOrd="0" parTransId="{69164122-6E2E-4BB1-9474-1DF43EDD0E70}" sibTransId="{460049F4-14BB-456D-A149-168F0F1E7F56}"/>
    <dgm:cxn modelId="{019D4A70-377D-4D2B-A1DA-1C715A05C184}" type="presOf" srcId="{86BA0091-C2BE-434D-8C59-C874C628678B}" destId="{EE822454-BB6A-4FE4-A22E-FADBC55C482C}" srcOrd="0" destOrd="0" presId="urn:microsoft.com/office/officeart/2005/8/layout/process1"/>
    <dgm:cxn modelId="{E362BA79-7823-486E-AFFF-A34F0992084B}" type="presOf" srcId="{CB6FE2C6-5744-4F63-A4D4-EB07F2F7009A}" destId="{9A78D24D-9DC1-4EFD-8F50-DB73991215E1}" srcOrd="0" destOrd="0" presId="urn:microsoft.com/office/officeart/2005/8/layout/process1"/>
    <dgm:cxn modelId="{34BD7B9B-BBBB-48FF-B3BB-E4EC02AB025F}" type="presOf" srcId="{CB6FE2C6-5744-4F63-A4D4-EB07F2F7009A}" destId="{FB419EA3-B96A-4894-8A73-87FAD0C6B2C2}" srcOrd="1" destOrd="0" presId="urn:microsoft.com/office/officeart/2005/8/layout/process1"/>
    <dgm:cxn modelId="{DA9388AD-2115-4312-A451-DD6A2F3F1F12}" srcId="{4AC2EF8D-C59B-4DD2-AC1D-E2CBF246AB1D}" destId="{C132B8D0-EBC8-460D-B321-3A731D934D81}" srcOrd="2" destOrd="0" parTransId="{12F61A1E-01B2-4F1E-A074-22650B245DCC}" sibTransId="{C4589978-5971-4076-B8D5-D7593D12FC03}"/>
    <dgm:cxn modelId="{5CC535AF-D10B-4409-B53A-CEEDC1BF2825}" type="presOf" srcId="{460049F4-14BB-456D-A149-168F0F1E7F56}" destId="{FEDA464A-5F3F-4678-AAFA-847F9DD12C79}" srcOrd="0" destOrd="0" presId="urn:microsoft.com/office/officeart/2005/8/layout/process1"/>
    <dgm:cxn modelId="{D2D661C6-0969-4ECA-AF51-EBBCC17B26F6}" srcId="{4AC2EF8D-C59B-4DD2-AC1D-E2CBF246AB1D}" destId="{86BA0091-C2BE-434D-8C59-C874C628678B}" srcOrd="0" destOrd="0" parTransId="{021CC775-B461-4FD8-89F1-91F66EA272FE}" sibTransId="{CB6FE2C6-5744-4F63-A4D4-EB07F2F7009A}"/>
    <dgm:cxn modelId="{F47BA0D5-799E-4E81-8F17-1BA99072FC27}" type="presOf" srcId="{4AC2EF8D-C59B-4DD2-AC1D-E2CBF246AB1D}" destId="{C25A5D9F-D220-443C-99BB-A12FAD26F489}" srcOrd="0" destOrd="0" presId="urn:microsoft.com/office/officeart/2005/8/layout/process1"/>
    <dgm:cxn modelId="{A24FA7E7-5C1C-4FA4-8AFC-86D3EB3E2762}" type="presOf" srcId="{E97D3C63-58D3-4F80-A929-688CAFB398E7}" destId="{6787A11F-B7E3-468B-9A03-DE95A1C0F9BE}" srcOrd="0" destOrd="0" presId="urn:microsoft.com/office/officeart/2005/8/layout/process1"/>
    <dgm:cxn modelId="{BE71B3F7-5585-4121-B4B4-286AD23543C4}" type="presOf" srcId="{460049F4-14BB-456D-A149-168F0F1E7F56}" destId="{D0F8D0F9-64F6-4760-867F-431EB7F68CCD}" srcOrd="1" destOrd="0" presId="urn:microsoft.com/office/officeart/2005/8/layout/process1"/>
    <dgm:cxn modelId="{EB76DF59-B710-4381-B44B-361026352797}" type="presParOf" srcId="{C25A5D9F-D220-443C-99BB-A12FAD26F489}" destId="{EE822454-BB6A-4FE4-A22E-FADBC55C482C}" srcOrd="0" destOrd="0" presId="urn:microsoft.com/office/officeart/2005/8/layout/process1"/>
    <dgm:cxn modelId="{4702CE70-5D71-4C5F-A91B-966724601612}" type="presParOf" srcId="{C25A5D9F-D220-443C-99BB-A12FAD26F489}" destId="{9A78D24D-9DC1-4EFD-8F50-DB73991215E1}" srcOrd="1" destOrd="0" presId="urn:microsoft.com/office/officeart/2005/8/layout/process1"/>
    <dgm:cxn modelId="{53BC8DBC-590C-4C83-8B80-ACB5D2300429}" type="presParOf" srcId="{9A78D24D-9DC1-4EFD-8F50-DB73991215E1}" destId="{FB419EA3-B96A-4894-8A73-87FAD0C6B2C2}" srcOrd="0" destOrd="0" presId="urn:microsoft.com/office/officeart/2005/8/layout/process1"/>
    <dgm:cxn modelId="{16E2FECE-F788-47D8-AE31-D31CD16CA0D1}" type="presParOf" srcId="{C25A5D9F-D220-443C-99BB-A12FAD26F489}" destId="{6787A11F-B7E3-468B-9A03-DE95A1C0F9BE}" srcOrd="2" destOrd="0" presId="urn:microsoft.com/office/officeart/2005/8/layout/process1"/>
    <dgm:cxn modelId="{CF440F5A-7CF7-4256-AD06-A1EF7108B966}" type="presParOf" srcId="{C25A5D9F-D220-443C-99BB-A12FAD26F489}" destId="{FEDA464A-5F3F-4678-AAFA-847F9DD12C79}" srcOrd="3" destOrd="0" presId="urn:microsoft.com/office/officeart/2005/8/layout/process1"/>
    <dgm:cxn modelId="{7F664A2D-252C-4B94-81D0-F764BD0900D2}" type="presParOf" srcId="{FEDA464A-5F3F-4678-AAFA-847F9DD12C79}" destId="{D0F8D0F9-64F6-4760-867F-431EB7F68CCD}" srcOrd="0" destOrd="0" presId="urn:microsoft.com/office/officeart/2005/8/layout/process1"/>
    <dgm:cxn modelId="{FEBBCAD6-AABD-4FFE-B32F-3ABE236B6812}" type="presParOf" srcId="{C25A5D9F-D220-443C-99BB-A12FAD26F489}" destId="{61D1B85F-1AFF-4044-8AFA-1A01C181924C}"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D41426B-58AC-4AB8-9CE3-CF653212766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D"/>
        </a:p>
      </dgm:t>
    </dgm:pt>
    <dgm:pt modelId="{CD98D0F2-A68D-4BDB-9419-C991645DA73A}">
      <dgm:prSet phldrT="[Text]"/>
      <dgm:spPr/>
      <dgm:t>
        <a:bodyPr/>
        <a:lstStyle/>
        <a:p>
          <a:r>
            <a:rPr lang="en-ID"/>
            <a:t>The Volume Engines</a:t>
          </a:r>
          <a:endParaRPr lang="en-ID" dirty="0"/>
        </a:p>
      </dgm:t>
    </dgm:pt>
    <dgm:pt modelId="{EE1B079A-E791-4643-B35D-3B24861510FE}" type="parTrans" cxnId="{A3CCFCDA-38E7-4946-A298-4EF2EA767555}">
      <dgm:prSet/>
      <dgm:spPr/>
      <dgm:t>
        <a:bodyPr/>
        <a:lstStyle/>
        <a:p>
          <a:endParaRPr lang="en-ID"/>
        </a:p>
      </dgm:t>
    </dgm:pt>
    <dgm:pt modelId="{74CFD232-696E-4098-8B13-42917B70CD8E}" type="sibTrans" cxnId="{A3CCFCDA-38E7-4946-A298-4EF2EA767555}">
      <dgm:prSet/>
      <dgm:spPr/>
      <dgm:t>
        <a:bodyPr/>
        <a:lstStyle/>
        <a:p>
          <a:endParaRPr lang="en-ID"/>
        </a:p>
      </dgm:t>
    </dgm:pt>
    <dgm:pt modelId="{320BA4CB-230A-4EC5-A201-3FF65A4B993D}">
      <dgm:prSet phldrT="[Text]"/>
      <dgm:spPr/>
      <dgm:t>
        <a:bodyPr/>
        <a:lstStyle/>
        <a:p>
          <a:r>
            <a:rPr lang="en-US" dirty="0" err="1"/>
            <a:t>organic_search</a:t>
          </a:r>
          <a:r>
            <a:rPr lang="en-US" dirty="0"/>
            <a:t> and </a:t>
          </a:r>
          <a:r>
            <a:rPr lang="en-US" dirty="0" err="1"/>
            <a:t>paid_search</a:t>
          </a:r>
          <a:r>
            <a:rPr lang="en-US" dirty="0"/>
            <a:t> are steady baseline pillars, capturing over $207,023 and $155,277 in gross marketplace volume.</a:t>
          </a:r>
          <a:endParaRPr lang="en-ID" dirty="0"/>
        </a:p>
      </dgm:t>
    </dgm:pt>
    <dgm:pt modelId="{9B62432E-0F28-4A39-BCBE-135DA6081A22}" type="parTrans" cxnId="{063E6155-E8A1-44A9-B9F6-C301929FAED0}">
      <dgm:prSet/>
      <dgm:spPr/>
      <dgm:t>
        <a:bodyPr/>
        <a:lstStyle/>
        <a:p>
          <a:endParaRPr lang="en-ID"/>
        </a:p>
      </dgm:t>
    </dgm:pt>
    <dgm:pt modelId="{9699BD25-EB2B-4D4D-90F0-EE313CB66299}" type="sibTrans" cxnId="{063E6155-E8A1-44A9-B9F6-C301929FAED0}">
      <dgm:prSet/>
      <dgm:spPr/>
      <dgm:t>
        <a:bodyPr/>
        <a:lstStyle/>
        <a:p>
          <a:endParaRPr lang="en-ID"/>
        </a:p>
      </dgm:t>
    </dgm:pt>
    <dgm:pt modelId="{B5753992-4D3C-47BA-AA28-E66E9729C345}">
      <dgm:prSet phldrT="[Text]"/>
      <dgm:spPr/>
      <dgm:t>
        <a:bodyPr/>
        <a:lstStyle/>
        <a:p>
          <a:r>
            <a:rPr lang="en-ID"/>
            <a:t>The Anomaly</a:t>
          </a:r>
          <a:endParaRPr lang="en-ID" dirty="0"/>
        </a:p>
      </dgm:t>
    </dgm:pt>
    <dgm:pt modelId="{C27E5606-6624-4B5B-8FB6-A85CA922E595}" type="parTrans" cxnId="{1EF59EC1-F4CA-4A17-80E4-E7DAECB058E2}">
      <dgm:prSet/>
      <dgm:spPr/>
      <dgm:t>
        <a:bodyPr/>
        <a:lstStyle/>
        <a:p>
          <a:endParaRPr lang="en-ID"/>
        </a:p>
      </dgm:t>
    </dgm:pt>
    <dgm:pt modelId="{8F01BE72-1A4C-4DEC-A4F3-AECEB2CE7BE4}" type="sibTrans" cxnId="{1EF59EC1-F4CA-4A17-80E4-E7DAECB058E2}">
      <dgm:prSet/>
      <dgm:spPr/>
      <dgm:t>
        <a:bodyPr/>
        <a:lstStyle/>
        <a:p>
          <a:endParaRPr lang="en-ID"/>
        </a:p>
      </dgm:t>
    </dgm:pt>
    <dgm:pt modelId="{56B2B777-1AC7-4486-B9E2-C8AB3146D8D1}">
      <dgm:prSet phldrT="[Text]"/>
      <dgm:spPr/>
      <dgm:t>
        <a:bodyPr/>
        <a:lstStyle/>
        <a:p>
          <a:r>
            <a:rPr lang="en-US" dirty="0"/>
            <a:t>The unknown origin vector displays our highest financial output ($213,742.70 total GMV) and a spectacular conversion profile (16.29%), yielding $194.49 in revenue per lead.</a:t>
          </a:r>
          <a:endParaRPr lang="en-ID" dirty="0"/>
        </a:p>
      </dgm:t>
    </dgm:pt>
    <dgm:pt modelId="{715CEF61-465F-4FF3-B939-9966B2153F7D}" type="parTrans" cxnId="{90DE5DF9-061A-43BF-A597-1372E3D73D5D}">
      <dgm:prSet/>
      <dgm:spPr/>
      <dgm:t>
        <a:bodyPr/>
        <a:lstStyle/>
        <a:p>
          <a:endParaRPr lang="en-ID"/>
        </a:p>
      </dgm:t>
    </dgm:pt>
    <dgm:pt modelId="{C8924821-F2D1-438F-8A05-BA972810571E}" type="sibTrans" cxnId="{90DE5DF9-061A-43BF-A597-1372E3D73D5D}">
      <dgm:prSet/>
      <dgm:spPr/>
      <dgm:t>
        <a:bodyPr/>
        <a:lstStyle/>
        <a:p>
          <a:endParaRPr lang="en-ID"/>
        </a:p>
      </dgm:t>
    </dgm:pt>
    <dgm:pt modelId="{33ECE206-5667-428D-A9B9-DA00C64BD166}">
      <dgm:prSet phldrT="[Text]"/>
      <dgm:spPr/>
      <dgm:t>
        <a:bodyPr/>
        <a:lstStyle/>
        <a:p>
          <a:r>
            <a:rPr lang="en-ID" dirty="0"/>
            <a:t>The Capital Drain</a:t>
          </a:r>
        </a:p>
      </dgm:t>
    </dgm:pt>
    <dgm:pt modelId="{5ED65E2A-FE9B-4EBD-8C1F-041F2BB16130}" type="parTrans" cxnId="{A12309D1-2F1B-4D2F-8B92-3FEEEC81D464}">
      <dgm:prSet/>
      <dgm:spPr/>
      <dgm:t>
        <a:bodyPr/>
        <a:lstStyle/>
        <a:p>
          <a:endParaRPr lang="en-ID"/>
        </a:p>
      </dgm:t>
    </dgm:pt>
    <dgm:pt modelId="{16F729C0-20E4-46E4-8276-1817CDFDC801}" type="sibTrans" cxnId="{A12309D1-2F1B-4D2F-8B92-3FEEEC81D464}">
      <dgm:prSet/>
      <dgm:spPr/>
      <dgm:t>
        <a:bodyPr/>
        <a:lstStyle/>
        <a:p>
          <a:endParaRPr lang="en-ID"/>
        </a:p>
      </dgm:t>
    </dgm:pt>
    <dgm:pt modelId="{FBE0E5C8-1088-4C30-831C-AD16BCF72CD9}">
      <dgm:prSet phldrT="[Text]"/>
      <dgm:spPr/>
      <dgm:t>
        <a:bodyPr/>
        <a:lstStyle/>
        <a:p>
          <a:r>
            <a:rPr lang="en-US" dirty="0"/>
            <a:t>social traffic attracts high lead volume (1,350 leads) but suffers from a weak 5.56% conversion rate and takes a punishing 61 days to close.</a:t>
          </a:r>
          <a:endParaRPr lang="en-ID" dirty="0"/>
        </a:p>
      </dgm:t>
    </dgm:pt>
    <dgm:pt modelId="{AD4EB215-90F3-49CA-8FA2-F7E779DC4D71}" type="parTrans" cxnId="{1631F2CF-BDEF-4F58-89FB-5113475072FB}">
      <dgm:prSet/>
      <dgm:spPr/>
      <dgm:t>
        <a:bodyPr/>
        <a:lstStyle/>
        <a:p>
          <a:endParaRPr lang="en-ID"/>
        </a:p>
      </dgm:t>
    </dgm:pt>
    <dgm:pt modelId="{18699877-28AF-4444-A637-7135AC98E3D0}" type="sibTrans" cxnId="{1631F2CF-BDEF-4F58-89FB-5113475072FB}">
      <dgm:prSet/>
      <dgm:spPr/>
      <dgm:t>
        <a:bodyPr/>
        <a:lstStyle/>
        <a:p>
          <a:endParaRPr lang="en-ID"/>
        </a:p>
      </dgm:t>
    </dgm:pt>
    <dgm:pt modelId="{30332B56-5F6C-4205-B42B-2527797AB485}" type="pres">
      <dgm:prSet presAssocID="{ED41426B-58AC-4AB8-9CE3-CF6532127662}" presName="linear" presStyleCnt="0">
        <dgm:presLayoutVars>
          <dgm:animLvl val="lvl"/>
          <dgm:resizeHandles val="exact"/>
        </dgm:presLayoutVars>
      </dgm:prSet>
      <dgm:spPr/>
    </dgm:pt>
    <dgm:pt modelId="{B6CAFAE9-3B93-4013-8FAA-20C468541140}" type="pres">
      <dgm:prSet presAssocID="{CD98D0F2-A68D-4BDB-9419-C991645DA73A}" presName="parentText" presStyleLbl="node1" presStyleIdx="0" presStyleCnt="3">
        <dgm:presLayoutVars>
          <dgm:chMax val="0"/>
          <dgm:bulletEnabled val="1"/>
        </dgm:presLayoutVars>
      </dgm:prSet>
      <dgm:spPr/>
    </dgm:pt>
    <dgm:pt modelId="{527F21BE-6949-4183-846E-AE3675671CC6}" type="pres">
      <dgm:prSet presAssocID="{CD98D0F2-A68D-4BDB-9419-C991645DA73A}" presName="childText" presStyleLbl="revTx" presStyleIdx="0" presStyleCnt="3">
        <dgm:presLayoutVars>
          <dgm:bulletEnabled val="1"/>
        </dgm:presLayoutVars>
      </dgm:prSet>
      <dgm:spPr/>
    </dgm:pt>
    <dgm:pt modelId="{2F47331F-E229-455F-AC75-8A93BD977EC2}" type="pres">
      <dgm:prSet presAssocID="{B5753992-4D3C-47BA-AA28-E66E9729C345}" presName="parentText" presStyleLbl="node1" presStyleIdx="1" presStyleCnt="3">
        <dgm:presLayoutVars>
          <dgm:chMax val="0"/>
          <dgm:bulletEnabled val="1"/>
        </dgm:presLayoutVars>
      </dgm:prSet>
      <dgm:spPr/>
    </dgm:pt>
    <dgm:pt modelId="{26C85DE3-3C85-4496-BAD9-3ED14850B840}" type="pres">
      <dgm:prSet presAssocID="{B5753992-4D3C-47BA-AA28-E66E9729C345}" presName="childText" presStyleLbl="revTx" presStyleIdx="1" presStyleCnt="3">
        <dgm:presLayoutVars>
          <dgm:bulletEnabled val="1"/>
        </dgm:presLayoutVars>
      </dgm:prSet>
      <dgm:spPr/>
    </dgm:pt>
    <dgm:pt modelId="{65FE10D9-8B38-4D81-8AEF-2DA3DDC07A03}" type="pres">
      <dgm:prSet presAssocID="{33ECE206-5667-428D-A9B9-DA00C64BD166}" presName="parentText" presStyleLbl="node1" presStyleIdx="2" presStyleCnt="3">
        <dgm:presLayoutVars>
          <dgm:chMax val="0"/>
          <dgm:bulletEnabled val="1"/>
        </dgm:presLayoutVars>
      </dgm:prSet>
      <dgm:spPr/>
    </dgm:pt>
    <dgm:pt modelId="{8844A5CD-7C5A-405B-A7D4-625189F6BDC0}" type="pres">
      <dgm:prSet presAssocID="{33ECE206-5667-428D-A9B9-DA00C64BD166}" presName="childText" presStyleLbl="revTx" presStyleIdx="2" presStyleCnt="3">
        <dgm:presLayoutVars>
          <dgm:bulletEnabled val="1"/>
        </dgm:presLayoutVars>
      </dgm:prSet>
      <dgm:spPr/>
    </dgm:pt>
  </dgm:ptLst>
  <dgm:cxnLst>
    <dgm:cxn modelId="{CE0ED460-BD76-4EEE-9A74-633E77E5BA8F}" type="presOf" srcId="{320BA4CB-230A-4EC5-A201-3FF65A4B993D}" destId="{527F21BE-6949-4183-846E-AE3675671CC6}" srcOrd="0" destOrd="0" presId="urn:microsoft.com/office/officeart/2005/8/layout/vList2"/>
    <dgm:cxn modelId="{4CA83D47-F97E-4774-A023-AF4F8CBBF906}" type="presOf" srcId="{33ECE206-5667-428D-A9B9-DA00C64BD166}" destId="{65FE10D9-8B38-4D81-8AEF-2DA3DDC07A03}" srcOrd="0" destOrd="0" presId="urn:microsoft.com/office/officeart/2005/8/layout/vList2"/>
    <dgm:cxn modelId="{E7B66C4A-3643-4DE7-83B0-FA296D8B56CC}" type="presOf" srcId="{56B2B777-1AC7-4486-B9E2-C8AB3146D8D1}" destId="{26C85DE3-3C85-4496-BAD9-3ED14850B840}" srcOrd="0" destOrd="0" presId="urn:microsoft.com/office/officeart/2005/8/layout/vList2"/>
    <dgm:cxn modelId="{063E6155-E8A1-44A9-B9F6-C301929FAED0}" srcId="{CD98D0F2-A68D-4BDB-9419-C991645DA73A}" destId="{320BA4CB-230A-4EC5-A201-3FF65A4B993D}" srcOrd="0" destOrd="0" parTransId="{9B62432E-0F28-4A39-BCBE-135DA6081A22}" sibTransId="{9699BD25-EB2B-4D4D-90F0-EE313CB66299}"/>
    <dgm:cxn modelId="{5BCE2B7B-A96A-495E-84BA-B0AA8BA1A8F2}" type="presOf" srcId="{FBE0E5C8-1088-4C30-831C-AD16BCF72CD9}" destId="{8844A5CD-7C5A-405B-A7D4-625189F6BDC0}" srcOrd="0" destOrd="0" presId="urn:microsoft.com/office/officeart/2005/8/layout/vList2"/>
    <dgm:cxn modelId="{BBA7A289-161B-4BC1-88D8-02139ADBADEF}" type="presOf" srcId="{B5753992-4D3C-47BA-AA28-E66E9729C345}" destId="{2F47331F-E229-455F-AC75-8A93BD977EC2}" srcOrd="0" destOrd="0" presId="urn:microsoft.com/office/officeart/2005/8/layout/vList2"/>
    <dgm:cxn modelId="{1EF59EC1-F4CA-4A17-80E4-E7DAECB058E2}" srcId="{ED41426B-58AC-4AB8-9CE3-CF6532127662}" destId="{B5753992-4D3C-47BA-AA28-E66E9729C345}" srcOrd="1" destOrd="0" parTransId="{C27E5606-6624-4B5B-8FB6-A85CA922E595}" sibTransId="{8F01BE72-1A4C-4DEC-A4F3-AECEB2CE7BE4}"/>
    <dgm:cxn modelId="{7DA045C2-26D8-4B4C-82C7-8993C7B24CD5}" type="presOf" srcId="{CD98D0F2-A68D-4BDB-9419-C991645DA73A}" destId="{B6CAFAE9-3B93-4013-8FAA-20C468541140}" srcOrd="0" destOrd="0" presId="urn:microsoft.com/office/officeart/2005/8/layout/vList2"/>
    <dgm:cxn modelId="{032847CA-9053-40C6-8653-DDC472579319}" type="presOf" srcId="{ED41426B-58AC-4AB8-9CE3-CF6532127662}" destId="{30332B56-5F6C-4205-B42B-2527797AB485}" srcOrd="0" destOrd="0" presId="urn:microsoft.com/office/officeart/2005/8/layout/vList2"/>
    <dgm:cxn modelId="{1631F2CF-BDEF-4F58-89FB-5113475072FB}" srcId="{33ECE206-5667-428D-A9B9-DA00C64BD166}" destId="{FBE0E5C8-1088-4C30-831C-AD16BCF72CD9}" srcOrd="0" destOrd="0" parTransId="{AD4EB215-90F3-49CA-8FA2-F7E779DC4D71}" sibTransId="{18699877-28AF-4444-A637-7135AC98E3D0}"/>
    <dgm:cxn modelId="{A12309D1-2F1B-4D2F-8B92-3FEEEC81D464}" srcId="{ED41426B-58AC-4AB8-9CE3-CF6532127662}" destId="{33ECE206-5667-428D-A9B9-DA00C64BD166}" srcOrd="2" destOrd="0" parTransId="{5ED65E2A-FE9B-4EBD-8C1F-041F2BB16130}" sibTransId="{16F729C0-20E4-46E4-8276-1817CDFDC801}"/>
    <dgm:cxn modelId="{A3CCFCDA-38E7-4946-A298-4EF2EA767555}" srcId="{ED41426B-58AC-4AB8-9CE3-CF6532127662}" destId="{CD98D0F2-A68D-4BDB-9419-C991645DA73A}" srcOrd="0" destOrd="0" parTransId="{EE1B079A-E791-4643-B35D-3B24861510FE}" sibTransId="{74CFD232-696E-4098-8B13-42917B70CD8E}"/>
    <dgm:cxn modelId="{90DE5DF9-061A-43BF-A597-1372E3D73D5D}" srcId="{B5753992-4D3C-47BA-AA28-E66E9729C345}" destId="{56B2B777-1AC7-4486-B9E2-C8AB3146D8D1}" srcOrd="0" destOrd="0" parTransId="{715CEF61-465F-4FF3-B939-9966B2153F7D}" sibTransId="{C8924821-F2D1-438F-8A05-BA972810571E}"/>
    <dgm:cxn modelId="{C32BA86C-20FF-4959-B17C-E4B6A5D47880}" type="presParOf" srcId="{30332B56-5F6C-4205-B42B-2527797AB485}" destId="{B6CAFAE9-3B93-4013-8FAA-20C468541140}" srcOrd="0" destOrd="0" presId="urn:microsoft.com/office/officeart/2005/8/layout/vList2"/>
    <dgm:cxn modelId="{3569C9C1-0549-465D-BE2B-E5B8F4FE0098}" type="presParOf" srcId="{30332B56-5F6C-4205-B42B-2527797AB485}" destId="{527F21BE-6949-4183-846E-AE3675671CC6}" srcOrd="1" destOrd="0" presId="urn:microsoft.com/office/officeart/2005/8/layout/vList2"/>
    <dgm:cxn modelId="{41715E96-3626-44B0-B493-7F2BC220EA65}" type="presParOf" srcId="{30332B56-5F6C-4205-B42B-2527797AB485}" destId="{2F47331F-E229-455F-AC75-8A93BD977EC2}" srcOrd="2" destOrd="0" presId="urn:microsoft.com/office/officeart/2005/8/layout/vList2"/>
    <dgm:cxn modelId="{BA7FE36F-7BD5-4A56-B805-A7DC70B41E9C}" type="presParOf" srcId="{30332B56-5F6C-4205-B42B-2527797AB485}" destId="{26C85DE3-3C85-4496-BAD9-3ED14850B840}" srcOrd="3" destOrd="0" presId="urn:microsoft.com/office/officeart/2005/8/layout/vList2"/>
    <dgm:cxn modelId="{F4AB1B5E-C3DE-4572-B964-314AF5184DB1}" type="presParOf" srcId="{30332B56-5F6C-4205-B42B-2527797AB485}" destId="{65FE10D9-8B38-4D81-8AEF-2DA3DDC07A03}" srcOrd="4" destOrd="0" presId="urn:microsoft.com/office/officeart/2005/8/layout/vList2"/>
    <dgm:cxn modelId="{B265D46E-13EA-4DFB-8F40-50B737017879}" type="presParOf" srcId="{30332B56-5F6C-4205-B42B-2527797AB485}" destId="{8844A5CD-7C5A-405B-A7D4-625189F6BDC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D41426B-58AC-4AB8-9CE3-CF653212766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D"/>
        </a:p>
      </dgm:t>
    </dgm:pt>
    <dgm:pt modelId="{CD98D0F2-A68D-4BDB-9419-C991645DA73A}">
      <dgm:prSet phldrT="[Text]"/>
      <dgm:spPr/>
      <dgm:t>
        <a:bodyPr/>
        <a:lstStyle/>
        <a:p>
          <a:r>
            <a:rPr lang="en-ID" dirty="0"/>
            <a:t>The Mathematical Strategy</a:t>
          </a:r>
        </a:p>
      </dgm:t>
    </dgm:pt>
    <dgm:pt modelId="{EE1B079A-E791-4643-B35D-3B24861510FE}" type="parTrans" cxnId="{A3CCFCDA-38E7-4946-A298-4EF2EA767555}">
      <dgm:prSet/>
      <dgm:spPr/>
      <dgm:t>
        <a:bodyPr/>
        <a:lstStyle/>
        <a:p>
          <a:endParaRPr lang="en-ID"/>
        </a:p>
      </dgm:t>
    </dgm:pt>
    <dgm:pt modelId="{74CFD232-696E-4098-8B13-42917B70CD8E}" type="sibTrans" cxnId="{A3CCFCDA-38E7-4946-A298-4EF2EA767555}">
      <dgm:prSet/>
      <dgm:spPr/>
      <dgm:t>
        <a:bodyPr/>
        <a:lstStyle/>
        <a:p>
          <a:endParaRPr lang="en-ID"/>
        </a:p>
      </dgm:t>
    </dgm:pt>
    <dgm:pt modelId="{320BA4CB-230A-4EC5-A201-3FF65A4B993D}">
      <dgm:prSet phldrT="[Text]"/>
      <dgm:spPr/>
      <dgm:t>
        <a:bodyPr/>
        <a:lstStyle/>
        <a:p>
          <a:r>
            <a:rPr lang="en-US"/>
            <a:t>We grouped customers into cohorts based on their true "first purchase month" using window partitions, calculating chronological return gaps over rolling monthly intervals.</a:t>
          </a:r>
          <a:endParaRPr lang="en-ID" dirty="0"/>
        </a:p>
      </dgm:t>
    </dgm:pt>
    <dgm:pt modelId="{9B62432E-0F28-4A39-BCBE-135DA6081A22}" type="parTrans" cxnId="{063E6155-E8A1-44A9-B9F6-C301929FAED0}">
      <dgm:prSet/>
      <dgm:spPr/>
      <dgm:t>
        <a:bodyPr/>
        <a:lstStyle/>
        <a:p>
          <a:endParaRPr lang="en-ID"/>
        </a:p>
      </dgm:t>
    </dgm:pt>
    <dgm:pt modelId="{9699BD25-EB2B-4D4D-90F0-EE313CB66299}" type="sibTrans" cxnId="{063E6155-E8A1-44A9-B9F6-C301929FAED0}">
      <dgm:prSet/>
      <dgm:spPr/>
      <dgm:t>
        <a:bodyPr/>
        <a:lstStyle/>
        <a:p>
          <a:endParaRPr lang="en-ID"/>
        </a:p>
      </dgm:t>
    </dgm:pt>
    <dgm:pt modelId="{B5753992-4D3C-47BA-AA28-E66E9729C345}">
      <dgm:prSet phldrT="[Text]"/>
      <dgm:spPr/>
      <dgm:t>
        <a:bodyPr/>
        <a:lstStyle/>
        <a:p>
          <a:r>
            <a:rPr lang="en-ID"/>
            <a:t>The Hard Reality</a:t>
          </a:r>
          <a:endParaRPr lang="en-ID" dirty="0"/>
        </a:p>
      </dgm:t>
    </dgm:pt>
    <dgm:pt modelId="{C27E5606-6624-4B5B-8FB6-A85CA922E595}" type="parTrans" cxnId="{1EF59EC1-F4CA-4A17-80E4-E7DAECB058E2}">
      <dgm:prSet/>
      <dgm:spPr/>
      <dgm:t>
        <a:bodyPr/>
        <a:lstStyle/>
        <a:p>
          <a:endParaRPr lang="en-ID"/>
        </a:p>
      </dgm:t>
    </dgm:pt>
    <dgm:pt modelId="{8F01BE72-1A4C-4DEC-A4F3-AECEB2CE7BE4}" type="sibTrans" cxnId="{1EF59EC1-F4CA-4A17-80E4-E7DAECB058E2}">
      <dgm:prSet/>
      <dgm:spPr/>
      <dgm:t>
        <a:bodyPr/>
        <a:lstStyle/>
        <a:p>
          <a:endParaRPr lang="en-ID"/>
        </a:p>
      </dgm:t>
    </dgm:pt>
    <dgm:pt modelId="{56B2B777-1AC7-4486-B9E2-C8AB3146D8D1}">
      <dgm:prSet phldrT="[Text]"/>
      <dgm:spPr/>
      <dgm:t>
        <a:bodyPr/>
        <a:lstStyle/>
        <a:p>
          <a:r>
            <a:rPr lang="en-US" dirty="0"/>
            <a:t>Across almost every high-volume 2017-2018 vintage, Month 1 customer retention crashes drastically well below 1% (e.g., Jan 2017 sits at 0.28%, March 2017 at 0.44%, and October 2017 at 0.72%).</a:t>
          </a:r>
          <a:endParaRPr lang="en-ID" dirty="0"/>
        </a:p>
      </dgm:t>
    </dgm:pt>
    <dgm:pt modelId="{715CEF61-465F-4FF3-B939-9966B2153F7D}" type="parTrans" cxnId="{90DE5DF9-061A-43BF-A597-1372E3D73D5D}">
      <dgm:prSet/>
      <dgm:spPr/>
      <dgm:t>
        <a:bodyPr/>
        <a:lstStyle/>
        <a:p>
          <a:endParaRPr lang="en-ID"/>
        </a:p>
      </dgm:t>
    </dgm:pt>
    <dgm:pt modelId="{C8924821-F2D1-438F-8A05-BA972810571E}" type="sibTrans" cxnId="{90DE5DF9-061A-43BF-A597-1372E3D73D5D}">
      <dgm:prSet/>
      <dgm:spPr/>
      <dgm:t>
        <a:bodyPr/>
        <a:lstStyle/>
        <a:p>
          <a:endParaRPr lang="en-ID"/>
        </a:p>
      </dgm:t>
    </dgm:pt>
    <dgm:pt modelId="{33ECE206-5667-428D-A9B9-DA00C64BD166}">
      <dgm:prSet phldrT="[Text]"/>
      <dgm:spPr/>
      <dgm:t>
        <a:bodyPr/>
        <a:lstStyle/>
        <a:p>
          <a:r>
            <a:rPr lang="en-ID"/>
            <a:t>The Diagnosis</a:t>
          </a:r>
          <a:endParaRPr lang="en-ID" dirty="0"/>
        </a:p>
      </dgm:t>
    </dgm:pt>
    <dgm:pt modelId="{5ED65E2A-FE9B-4EBD-8C1F-041F2BB16130}" type="parTrans" cxnId="{A12309D1-2F1B-4D2F-8B92-3FEEEC81D464}">
      <dgm:prSet/>
      <dgm:spPr/>
      <dgm:t>
        <a:bodyPr/>
        <a:lstStyle/>
        <a:p>
          <a:endParaRPr lang="en-ID"/>
        </a:p>
      </dgm:t>
    </dgm:pt>
    <dgm:pt modelId="{16F729C0-20E4-46E4-8276-1817CDFDC801}" type="sibTrans" cxnId="{A12309D1-2F1B-4D2F-8B92-3FEEEC81D464}">
      <dgm:prSet/>
      <dgm:spPr/>
      <dgm:t>
        <a:bodyPr/>
        <a:lstStyle/>
        <a:p>
          <a:endParaRPr lang="en-ID"/>
        </a:p>
      </dgm:t>
    </dgm:pt>
    <dgm:pt modelId="{FBE0E5C8-1088-4C30-831C-AD16BCF72CD9}">
      <dgm:prSet phldrT="[Text]"/>
      <dgm:spPr/>
      <dgm:t>
        <a:bodyPr/>
        <a:lstStyle/>
        <a:p>
          <a:r>
            <a:rPr lang="en-US" dirty="0"/>
            <a:t>The platform possesses a potent customer acquisition machine but a highly volatile customer lifecycle.</a:t>
          </a:r>
          <a:endParaRPr lang="en-ID" dirty="0"/>
        </a:p>
      </dgm:t>
    </dgm:pt>
    <dgm:pt modelId="{AD4EB215-90F3-49CA-8FA2-F7E779DC4D71}" type="parTrans" cxnId="{1631F2CF-BDEF-4F58-89FB-5113475072FB}">
      <dgm:prSet/>
      <dgm:spPr/>
      <dgm:t>
        <a:bodyPr/>
        <a:lstStyle/>
        <a:p>
          <a:endParaRPr lang="en-ID"/>
        </a:p>
      </dgm:t>
    </dgm:pt>
    <dgm:pt modelId="{18699877-28AF-4444-A637-7135AC98E3D0}" type="sibTrans" cxnId="{1631F2CF-BDEF-4F58-89FB-5113475072FB}">
      <dgm:prSet/>
      <dgm:spPr/>
      <dgm:t>
        <a:bodyPr/>
        <a:lstStyle/>
        <a:p>
          <a:endParaRPr lang="en-ID"/>
        </a:p>
      </dgm:t>
    </dgm:pt>
    <dgm:pt modelId="{30332B56-5F6C-4205-B42B-2527797AB485}" type="pres">
      <dgm:prSet presAssocID="{ED41426B-58AC-4AB8-9CE3-CF6532127662}" presName="linear" presStyleCnt="0">
        <dgm:presLayoutVars>
          <dgm:animLvl val="lvl"/>
          <dgm:resizeHandles val="exact"/>
        </dgm:presLayoutVars>
      </dgm:prSet>
      <dgm:spPr/>
    </dgm:pt>
    <dgm:pt modelId="{B6CAFAE9-3B93-4013-8FAA-20C468541140}" type="pres">
      <dgm:prSet presAssocID="{CD98D0F2-A68D-4BDB-9419-C991645DA73A}" presName="parentText" presStyleLbl="node1" presStyleIdx="0" presStyleCnt="3">
        <dgm:presLayoutVars>
          <dgm:chMax val="0"/>
          <dgm:bulletEnabled val="1"/>
        </dgm:presLayoutVars>
      </dgm:prSet>
      <dgm:spPr/>
    </dgm:pt>
    <dgm:pt modelId="{527F21BE-6949-4183-846E-AE3675671CC6}" type="pres">
      <dgm:prSet presAssocID="{CD98D0F2-A68D-4BDB-9419-C991645DA73A}" presName="childText" presStyleLbl="revTx" presStyleIdx="0" presStyleCnt="3">
        <dgm:presLayoutVars>
          <dgm:bulletEnabled val="1"/>
        </dgm:presLayoutVars>
      </dgm:prSet>
      <dgm:spPr/>
    </dgm:pt>
    <dgm:pt modelId="{2F47331F-E229-455F-AC75-8A93BD977EC2}" type="pres">
      <dgm:prSet presAssocID="{B5753992-4D3C-47BA-AA28-E66E9729C345}" presName="parentText" presStyleLbl="node1" presStyleIdx="1" presStyleCnt="3">
        <dgm:presLayoutVars>
          <dgm:chMax val="0"/>
          <dgm:bulletEnabled val="1"/>
        </dgm:presLayoutVars>
      </dgm:prSet>
      <dgm:spPr/>
    </dgm:pt>
    <dgm:pt modelId="{26C85DE3-3C85-4496-BAD9-3ED14850B840}" type="pres">
      <dgm:prSet presAssocID="{B5753992-4D3C-47BA-AA28-E66E9729C345}" presName="childText" presStyleLbl="revTx" presStyleIdx="1" presStyleCnt="3">
        <dgm:presLayoutVars>
          <dgm:bulletEnabled val="1"/>
        </dgm:presLayoutVars>
      </dgm:prSet>
      <dgm:spPr/>
    </dgm:pt>
    <dgm:pt modelId="{65FE10D9-8B38-4D81-8AEF-2DA3DDC07A03}" type="pres">
      <dgm:prSet presAssocID="{33ECE206-5667-428D-A9B9-DA00C64BD166}" presName="parentText" presStyleLbl="node1" presStyleIdx="2" presStyleCnt="3">
        <dgm:presLayoutVars>
          <dgm:chMax val="0"/>
          <dgm:bulletEnabled val="1"/>
        </dgm:presLayoutVars>
      </dgm:prSet>
      <dgm:spPr/>
    </dgm:pt>
    <dgm:pt modelId="{8844A5CD-7C5A-405B-A7D4-625189F6BDC0}" type="pres">
      <dgm:prSet presAssocID="{33ECE206-5667-428D-A9B9-DA00C64BD166}" presName="childText" presStyleLbl="revTx" presStyleIdx="2" presStyleCnt="3">
        <dgm:presLayoutVars>
          <dgm:bulletEnabled val="1"/>
        </dgm:presLayoutVars>
      </dgm:prSet>
      <dgm:spPr/>
    </dgm:pt>
  </dgm:ptLst>
  <dgm:cxnLst>
    <dgm:cxn modelId="{CE0ED460-BD76-4EEE-9A74-633E77E5BA8F}" type="presOf" srcId="{320BA4CB-230A-4EC5-A201-3FF65A4B993D}" destId="{527F21BE-6949-4183-846E-AE3675671CC6}" srcOrd="0" destOrd="0" presId="urn:microsoft.com/office/officeart/2005/8/layout/vList2"/>
    <dgm:cxn modelId="{4CA83D47-F97E-4774-A023-AF4F8CBBF906}" type="presOf" srcId="{33ECE206-5667-428D-A9B9-DA00C64BD166}" destId="{65FE10D9-8B38-4D81-8AEF-2DA3DDC07A03}" srcOrd="0" destOrd="0" presId="urn:microsoft.com/office/officeart/2005/8/layout/vList2"/>
    <dgm:cxn modelId="{E7B66C4A-3643-4DE7-83B0-FA296D8B56CC}" type="presOf" srcId="{56B2B777-1AC7-4486-B9E2-C8AB3146D8D1}" destId="{26C85DE3-3C85-4496-BAD9-3ED14850B840}" srcOrd="0" destOrd="0" presId="urn:microsoft.com/office/officeart/2005/8/layout/vList2"/>
    <dgm:cxn modelId="{063E6155-E8A1-44A9-B9F6-C301929FAED0}" srcId="{CD98D0F2-A68D-4BDB-9419-C991645DA73A}" destId="{320BA4CB-230A-4EC5-A201-3FF65A4B993D}" srcOrd="0" destOrd="0" parTransId="{9B62432E-0F28-4A39-BCBE-135DA6081A22}" sibTransId="{9699BD25-EB2B-4D4D-90F0-EE313CB66299}"/>
    <dgm:cxn modelId="{5BCE2B7B-A96A-495E-84BA-B0AA8BA1A8F2}" type="presOf" srcId="{FBE0E5C8-1088-4C30-831C-AD16BCF72CD9}" destId="{8844A5CD-7C5A-405B-A7D4-625189F6BDC0}" srcOrd="0" destOrd="0" presId="urn:microsoft.com/office/officeart/2005/8/layout/vList2"/>
    <dgm:cxn modelId="{BBA7A289-161B-4BC1-88D8-02139ADBADEF}" type="presOf" srcId="{B5753992-4D3C-47BA-AA28-E66E9729C345}" destId="{2F47331F-E229-455F-AC75-8A93BD977EC2}" srcOrd="0" destOrd="0" presId="urn:microsoft.com/office/officeart/2005/8/layout/vList2"/>
    <dgm:cxn modelId="{1EF59EC1-F4CA-4A17-80E4-E7DAECB058E2}" srcId="{ED41426B-58AC-4AB8-9CE3-CF6532127662}" destId="{B5753992-4D3C-47BA-AA28-E66E9729C345}" srcOrd="1" destOrd="0" parTransId="{C27E5606-6624-4B5B-8FB6-A85CA922E595}" sibTransId="{8F01BE72-1A4C-4DEC-A4F3-AECEB2CE7BE4}"/>
    <dgm:cxn modelId="{7DA045C2-26D8-4B4C-82C7-8993C7B24CD5}" type="presOf" srcId="{CD98D0F2-A68D-4BDB-9419-C991645DA73A}" destId="{B6CAFAE9-3B93-4013-8FAA-20C468541140}" srcOrd="0" destOrd="0" presId="urn:microsoft.com/office/officeart/2005/8/layout/vList2"/>
    <dgm:cxn modelId="{032847CA-9053-40C6-8653-DDC472579319}" type="presOf" srcId="{ED41426B-58AC-4AB8-9CE3-CF6532127662}" destId="{30332B56-5F6C-4205-B42B-2527797AB485}" srcOrd="0" destOrd="0" presId="urn:microsoft.com/office/officeart/2005/8/layout/vList2"/>
    <dgm:cxn modelId="{1631F2CF-BDEF-4F58-89FB-5113475072FB}" srcId="{33ECE206-5667-428D-A9B9-DA00C64BD166}" destId="{FBE0E5C8-1088-4C30-831C-AD16BCF72CD9}" srcOrd="0" destOrd="0" parTransId="{AD4EB215-90F3-49CA-8FA2-F7E779DC4D71}" sibTransId="{18699877-28AF-4444-A637-7135AC98E3D0}"/>
    <dgm:cxn modelId="{A12309D1-2F1B-4D2F-8B92-3FEEEC81D464}" srcId="{ED41426B-58AC-4AB8-9CE3-CF6532127662}" destId="{33ECE206-5667-428D-A9B9-DA00C64BD166}" srcOrd="2" destOrd="0" parTransId="{5ED65E2A-FE9B-4EBD-8C1F-041F2BB16130}" sibTransId="{16F729C0-20E4-46E4-8276-1817CDFDC801}"/>
    <dgm:cxn modelId="{A3CCFCDA-38E7-4946-A298-4EF2EA767555}" srcId="{ED41426B-58AC-4AB8-9CE3-CF6532127662}" destId="{CD98D0F2-A68D-4BDB-9419-C991645DA73A}" srcOrd="0" destOrd="0" parTransId="{EE1B079A-E791-4643-B35D-3B24861510FE}" sibTransId="{74CFD232-696E-4098-8B13-42917B70CD8E}"/>
    <dgm:cxn modelId="{90DE5DF9-061A-43BF-A597-1372E3D73D5D}" srcId="{B5753992-4D3C-47BA-AA28-E66E9729C345}" destId="{56B2B777-1AC7-4486-B9E2-C8AB3146D8D1}" srcOrd="0" destOrd="0" parTransId="{715CEF61-465F-4FF3-B939-9966B2153F7D}" sibTransId="{C8924821-F2D1-438F-8A05-BA972810571E}"/>
    <dgm:cxn modelId="{C32BA86C-20FF-4959-B17C-E4B6A5D47880}" type="presParOf" srcId="{30332B56-5F6C-4205-B42B-2527797AB485}" destId="{B6CAFAE9-3B93-4013-8FAA-20C468541140}" srcOrd="0" destOrd="0" presId="urn:microsoft.com/office/officeart/2005/8/layout/vList2"/>
    <dgm:cxn modelId="{3569C9C1-0549-465D-BE2B-E5B8F4FE0098}" type="presParOf" srcId="{30332B56-5F6C-4205-B42B-2527797AB485}" destId="{527F21BE-6949-4183-846E-AE3675671CC6}" srcOrd="1" destOrd="0" presId="urn:microsoft.com/office/officeart/2005/8/layout/vList2"/>
    <dgm:cxn modelId="{41715E96-3626-44B0-B493-7F2BC220EA65}" type="presParOf" srcId="{30332B56-5F6C-4205-B42B-2527797AB485}" destId="{2F47331F-E229-455F-AC75-8A93BD977EC2}" srcOrd="2" destOrd="0" presId="urn:microsoft.com/office/officeart/2005/8/layout/vList2"/>
    <dgm:cxn modelId="{BA7FE36F-7BD5-4A56-B805-A7DC70B41E9C}" type="presParOf" srcId="{30332B56-5F6C-4205-B42B-2527797AB485}" destId="{26C85DE3-3C85-4496-BAD9-3ED14850B840}" srcOrd="3" destOrd="0" presId="urn:microsoft.com/office/officeart/2005/8/layout/vList2"/>
    <dgm:cxn modelId="{F4AB1B5E-C3DE-4572-B964-314AF5184DB1}" type="presParOf" srcId="{30332B56-5F6C-4205-B42B-2527797AB485}" destId="{65FE10D9-8B38-4D81-8AEF-2DA3DDC07A03}" srcOrd="4" destOrd="0" presId="urn:microsoft.com/office/officeart/2005/8/layout/vList2"/>
    <dgm:cxn modelId="{B265D46E-13EA-4DFB-8F40-50B737017879}" type="presParOf" srcId="{30332B56-5F6C-4205-B42B-2527797AB485}" destId="{8844A5CD-7C5A-405B-A7D4-625189F6BDC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D41426B-58AC-4AB8-9CE3-CF6532127662}"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ID"/>
        </a:p>
      </dgm:t>
    </dgm:pt>
    <dgm:pt modelId="{CD98D0F2-A68D-4BDB-9419-C991645DA73A}">
      <dgm:prSet phldrT="[Text]"/>
      <dgm:spPr/>
      <dgm:t>
        <a:bodyPr/>
        <a:lstStyle/>
        <a:p>
          <a:r>
            <a:rPr lang="en-ID"/>
            <a:t>Directive 1</a:t>
          </a:r>
          <a:endParaRPr lang="en-ID" dirty="0"/>
        </a:p>
      </dgm:t>
    </dgm:pt>
    <dgm:pt modelId="{EE1B079A-E791-4643-B35D-3B24861510FE}" type="parTrans" cxnId="{A3CCFCDA-38E7-4946-A298-4EF2EA767555}">
      <dgm:prSet/>
      <dgm:spPr/>
      <dgm:t>
        <a:bodyPr/>
        <a:lstStyle/>
        <a:p>
          <a:endParaRPr lang="en-ID"/>
        </a:p>
      </dgm:t>
    </dgm:pt>
    <dgm:pt modelId="{74CFD232-696E-4098-8B13-42917B70CD8E}" type="sibTrans" cxnId="{A3CCFCDA-38E7-4946-A298-4EF2EA767555}">
      <dgm:prSet/>
      <dgm:spPr/>
      <dgm:t>
        <a:bodyPr/>
        <a:lstStyle/>
        <a:p>
          <a:endParaRPr lang="en-ID"/>
        </a:p>
      </dgm:t>
    </dgm:pt>
    <dgm:pt modelId="{320BA4CB-230A-4EC5-A201-3FF65A4B993D}">
      <dgm:prSet phldrT="[Text]"/>
      <dgm:spPr/>
      <dgm:t>
        <a:bodyPr/>
        <a:lstStyle/>
        <a:p>
          <a:r>
            <a:rPr lang="en-US"/>
            <a:t>De-Anonymize the High-Yield Channel. Immediately deploy product and web operations teams to audit and unmask the unknown traffic channel. It generates our highest yield; we must identify it to scale it.</a:t>
          </a:r>
          <a:endParaRPr lang="en-ID" dirty="0"/>
        </a:p>
      </dgm:t>
    </dgm:pt>
    <dgm:pt modelId="{9B62432E-0F28-4A39-BCBE-135DA6081A22}" type="parTrans" cxnId="{063E6155-E8A1-44A9-B9F6-C301929FAED0}">
      <dgm:prSet/>
      <dgm:spPr/>
      <dgm:t>
        <a:bodyPr/>
        <a:lstStyle/>
        <a:p>
          <a:endParaRPr lang="en-ID"/>
        </a:p>
      </dgm:t>
    </dgm:pt>
    <dgm:pt modelId="{9699BD25-EB2B-4D4D-90F0-EE313CB66299}" type="sibTrans" cxnId="{063E6155-E8A1-44A9-B9F6-C301929FAED0}">
      <dgm:prSet/>
      <dgm:spPr/>
      <dgm:t>
        <a:bodyPr/>
        <a:lstStyle/>
        <a:p>
          <a:endParaRPr lang="en-ID"/>
        </a:p>
      </dgm:t>
    </dgm:pt>
    <dgm:pt modelId="{B5753992-4D3C-47BA-AA28-E66E9729C345}">
      <dgm:prSet phldrT="[Text]"/>
      <dgm:spPr/>
      <dgm:t>
        <a:bodyPr/>
        <a:lstStyle/>
        <a:p>
          <a:r>
            <a:rPr lang="en-ID"/>
            <a:t>Directive 2</a:t>
          </a:r>
          <a:endParaRPr lang="en-ID" dirty="0"/>
        </a:p>
      </dgm:t>
    </dgm:pt>
    <dgm:pt modelId="{C27E5606-6624-4B5B-8FB6-A85CA922E595}" type="parTrans" cxnId="{1EF59EC1-F4CA-4A17-80E4-E7DAECB058E2}">
      <dgm:prSet/>
      <dgm:spPr/>
      <dgm:t>
        <a:bodyPr/>
        <a:lstStyle/>
        <a:p>
          <a:endParaRPr lang="en-ID"/>
        </a:p>
      </dgm:t>
    </dgm:pt>
    <dgm:pt modelId="{8F01BE72-1A4C-4DEC-A4F3-AECEB2CE7BE4}" type="sibTrans" cxnId="{1EF59EC1-F4CA-4A17-80E4-E7DAECB058E2}">
      <dgm:prSet/>
      <dgm:spPr/>
      <dgm:t>
        <a:bodyPr/>
        <a:lstStyle/>
        <a:p>
          <a:endParaRPr lang="en-ID"/>
        </a:p>
      </dgm:t>
    </dgm:pt>
    <dgm:pt modelId="{56B2B777-1AC7-4486-B9E2-C8AB3146D8D1}">
      <dgm:prSet phldrT="[Text]"/>
      <dgm:spPr/>
      <dgm:t>
        <a:bodyPr/>
        <a:lstStyle/>
        <a:p>
          <a:r>
            <a:rPr lang="en-US"/>
            <a:t>Throttle or Redesign Social Budgets. Freeze or aggressively optimize capital allocation away from broad social campaigns. It acts as an operational resource drain.</a:t>
          </a:r>
          <a:endParaRPr lang="en-ID" dirty="0"/>
        </a:p>
      </dgm:t>
    </dgm:pt>
    <dgm:pt modelId="{715CEF61-465F-4FF3-B939-9966B2153F7D}" type="parTrans" cxnId="{90DE5DF9-061A-43BF-A597-1372E3D73D5D}">
      <dgm:prSet/>
      <dgm:spPr/>
      <dgm:t>
        <a:bodyPr/>
        <a:lstStyle/>
        <a:p>
          <a:endParaRPr lang="en-ID"/>
        </a:p>
      </dgm:t>
    </dgm:pt>
    <dgm:pt modelId="{C8924821-F2D1-438F-8A05-BA972810571E}" type="sibTrans" cxnId="{90DE5DF9-061A-43BF-A597-1372E3D73D5D}">
      <dgm:prSet/>
      <dgm:spPr/>
      <dgm:t>
        <a:bodyPr/>
        <a:lstStyle/>
        <a:p>
          <a:endParaRPr lang="en-ID"/>
        </a:p>
      </dgm:t>
    </dgm:pt>
    <dgm:pt modelId="{33ECE206-5667-428D-A9B9-DA00C64BD166}">
      <dgm:prSet phldrT="[Text]"/>
      <dgm:spPr/>
      <dgm:t>
        <a:bodyPr/>
        <a:lstStyle/>
        <a:p>
          <a:r>
            <a:rPr lang="en-ID"/>
            <a:t>Directive 3</a:t>
          </a:r>
          <a:endParaRPr lang="en-ID" dirty="0"/>
        </a:p>
      </dgm:t>
    </dgm:pt>
    <dgm:pt modelId="{5ED65E2A-FE9B-4EBD-8C1F-041F2BB16130}" type="parTrans" cxnId="{A12309D1-2F1B-4D2F-8B92-3FEEEC81D464}">
      <dgm:prSet/>
      <dgm:spPr/>
      <dgm:t>
        <a:bodyPr/>
        <a:lstStyle/>
        <a:p>
          <a:endParaRPr lang="en-ID"/>
        </a:p>
      </dgm:t>
    </dgm:pt>
    <dgm:pt modelId="{16F729C0-20E4-46E4-8276-1817CDFDC801}" type="sibTrans" cxnId="{A12309D1-2F1B-4D2F-8B92-3FEEEC81D464}">
      <dgm:prSet/>
      <dgm:spPr/>
      <dgm:t>
        <a:bodyPr/>
        <a:lstStyle/>
        <a:p>
          <a:endParaRPr lang="en-ID"/>
        </a:p>
      </dgm:t>
    </dgm:pt>
    <dgm:pt modelId="{FBE0E5C8-1088-4C30-831C-AD16BCF72CD9}">
      <dgm:prSet phldrT="[Text]"/>
      <dgm:spPr/>
      <dgm:t>
        <a:bodyPr/>
        <a:lstStyle/>
        <a:p>
          <a:r>
            <a:rPr lang="en-US" dirty="0"/>
            <a:t>Pivot to Bottom-of-Funnel Nurturing. Shift a substantial portion of marketing capital from expensive top-of-funnel customer acquisition into automated lifecycle retention triggers (loyalty rewards, smart email re-engagement, and vendor verification safeguards).</a:t>
          </a:r>
          <a:endParaRPr lang="en-ID" dirty="0"/>
        </a:p>
      </dgm:t>
    </dgm:pt>
    <dgm:pt modelId="{AD4EB215-90F3-49CA-8FA2-F7E779DC4D71}" type="parTrans" cxnId="{1631F2CF-BDEF-4F58-89FB-5113475072FB}">
      <dgm:prSet/>
      <dgm:spPr/>
      <dgm:t>
        <a:bodyPr/>
        <a:lstStyle/>
        <a:p>
          <a:endParaRPr lang="en-ID"/>
        </a:p>
      </dgm:t>
    </dgm:pt>
    <dgm:pt modelId="{18699877-28AF-4444-A637-7135AC98E3D0}" type="sibTrans" cxnId="{1631F2CF-BDEF-4F58-89FB-5113475072FB}">
      <dgm:prSet/>
      <dgm:spPr/>
      <dgm:t>
        <a:bodyPr/>
        <a:lstStyle/>
        <a:p>
          <a:endParaRPr lang="en-ID"/>
        </a:p>
      </dgm:t>
    </dgm:pt>
    <dgm:pt modelId="{3B09FD36-D525-467D-A270-B54FDDBCA79B}" type="pres">
      <dgm:prSet presAssocID="{ED41426B-58AC-4AB8-9CE3-CF6532127662}" presName="linear" presStyleCnt="0">
        <dgm:presLayoutVars>
          <dgm:dir/>
          <dgm:animLvl val="lvl"/>
          <dgm:resizeHandles val="exact"/>
        </dgm:presLayoutVars>
      </dgm:prSet>
      <dgm:spPr/>
    </dgm:pt>
    <dgm:pt modelId="{48E833B2-9CBB-4EF7-BBBA-83243B49E7A4}" type="pres">
      <dgm:prSet presAssocID="{CD98D0F2-A68D-4BDB-9419-C991645DA73A}" presName="parentLin" presStyleCnt="0"/>
      <dgm:spPr/>
    </dgm:pt>
    <dgm:pt modelId="{B224581F-12F8-4F13-ACAC-F9E0AB03387F}" type="pres">
      <dgm:prSet presAssocID="{CD98D0F2-A68D-4BDB-9419-C991645DA73A}" presName="parentLeftMargin" presStyleLbl="node1" presStyleIdx="0" presStyleCnt="3"/>
      <dgm:spPr/>
    </dgm:pt>
    <dgm:pt modelId="{6A86217E-6423-488A-A7E8-8A793C6EE430}" type="pres">
      <dgm:prSet presAssocID="{CD98D0F2-A68D-4BDB-9419-C991645DA73A}" presName="parentText" presStyleLbl="node1" presStyleIdx="0" presStyleCnt="3">
        <dgm:presLayoutVars>
          <dgm:chMax val="0"/>
          <dgm:bulletEnabled val="1"/>
        </dgm:presLayoutVars>
      </dgm:prSet>
      <dgm:spPr/>
    </dgm:pt>
    <dgm:pt modelId="{0F6A7765-B1F0-44BE-84B7-2E61D54E99AD}" type="pres">
      <dgm:prSet presAssocID="{CD98D0F2-A68D-4BDB-9419-C991645DA73A}" presName="negativeSpace" presStyleCnt="0"/>
      <dgm:spPr/>
    </dgm:pt>
    <dgm:pt modelId="{C57C9F9F-2085-4EB2-B77A-4E2320C92621}" type="pres">
      <dgm:prSet presAssocID="{CD98D0F2-A68D-4BDB-9419-C991645DA73A}" presName="childText" presStyleLbl="conFgAcc1" presStyleIdx="0" presStyleCnt="3">
        <dgm:presLayoutVars>
          <dgm:bulletEnabled val="1"/>
        </dgm:presLayoutVars>
      </dgm:prSet>
      <dgm:spPr/>
    </dgm:pt>
    <dgm:pt modelId="{42441889-988F-4089-94C6-655FB7BEDFC3}" type="pres">
      <dgm:prSet presAssocID="{74CFD232-696E-4098-8B13-42917B70CD8E}" presName="spaceBetweenRectangles" presStyleCnt="0"/>
      <dgm:spPr/>
    </dgm:pt>
    <dgm:pt modelId="{C111DCDD-2221-42EF-9F58-58F13C526EC6}" type="pres">
      <dgm:prSet presAssocID="{B5753992-4D3C-47BA-AA28-E66E9729C345}" presName="parentLin" presStyleCnt="0"/>
      <dgm:spPr/>
    </dgm:pt>
    <dgm:pt modelId="{A1D08F76-51E6-416F-908C-5AD2A7A6FF17}" type="pres">
      <dgm:prSet presAssocID="{B5753992-4D3C-47BA-AA28-E66E9729C345}" presName="parentLeftMargin" presStyleLbl="node1" presStyleIdx="0" presStyleCnt="3"/>
      <dgm:spPr/>
    </dgm:pt>
    <dgm:pt modelId="{E54571D6-CC5E-4134-B5AA-0DB6528B3FAD}" type="pres">
      <dgm:prSet presAssocID="{B5753992-4D3C-47BA-AA28-E66E9729C345}" presName="parentText" presStyleLbl="node1" presStyleIdx="1" presStyleCnt="3">
        <dgm:presLayoutVars>
          <dgm:chMax val="0"/>
          <dgm:bulletEnabled val="1"/>
        </dgm:presLayoutVars>
      </dgm:prSet>
      <dgm:spPr/>
    </dgm:pt>
    <dgm:pt modelId="{99BA858D-58E3-47BA-B1DF-76BF5FA74D7F}" type="pres">
      <dgm:prSet presAssocID="{B5753992-4D3C-47BA-AA28-E66E9729C345}" presName="negativeSpace" presStyleCnt="0"/>
      <dgm:spPr/>
    </dgm:pt>
    <dgm:pt modelId="{7D3B93F8-9CD3-4485-B0BF-FA3EA6C13523}" type="pres">
      <dgm:prSet presAssocID="{B5753992-4D3C-47BA-AA28-E66E9729C345}" presName="childText" presStyleLbl="conFgAcc1" presStyleIdx="1" presStyleCnt="3">
        <dgm:presLayoutVars>
          <dgm:bulletEnabled val="1"/>
        </dgm:presLayoutVars>
      </dgm:prSet>
      <dgm:spPr/>
    </dgm:pt>
    <dgm:pt modelId="{DE9AD9B0-AF58-49A8-AEA7-D2E10F1C27F1}" type="pres">
      <dgm:prSet presAssocID="{8F01BE72-1A4C-4DEC-A4F3-AECEB2CE7BE4}" presName="spaceBetweenRectangles" presStyleCnt="0"/>
      <dgm:spPr/>
    </dgm:pt>
    <dgm:pt modelId="{085721C0-CE0D-4961-89D8-F4D596189663}" type="pres">
      <dgm:prSet presAssocID="{33ECE206-5667-428D-A9B9-DA00C64BD166}" presName="parentLin" presStyleCnt="0"/>
      <dgm:spPr/>
    </dgm:pt>
    <dgm:pt modelId="{C28D0206-6CC6-41C5-9F59-7A043E002AE0}" type="pres">
      <dgm:prSet presAssocID="{33ECE206-5667-428D-A9B9-DA00C64BD166}" presName="parentLeftMargin" presStyleLbl="node1" presStyleIdx="1" presStyleCnt="3"/>
      <dgm:spPr/>
    </dgm:pt>
    <dgm:pt modelId="{C1A72D3F-8AA1-4202-88B7-0B6E4A530151}" type="pres">
      <dgm:prSet presAssocID="{33ECE206-5667-428D-A9B9-DA00C64BD166}" presName="parentText" presStyleLbl="node1" presStyleIdx="2" presStyleCnt="3">
        <dgm:presLayoutVars>
          <dgm:chMax val="0"/>
          <dgm:bulletEnabled val="1"/>
        </dgm:presLayoutVars>
      </dgm:prSet>
      <dgm:spPr/>
    </dgm:pt>
    <dgm:pt modelId="{B66A8ADC-2BE0-4432-8BA9-BD571BD7AD89}" type="pres">
      <dgm:prSet presAssocID="{33ECE206-5667-428D-A9B9-DA00C64BD166}" presName="negativeSpace" presStyleCnt="0"/>
      <dgm:spPr/>
    </dgm:pt>
    <dgm:pt modelId="{DFD3E43D-68AA-4720-AA8A-2A7787D3D903}" type="pres">
      <dgm:prSet presAssocID="{33ECE206-5667-428D-A9B9-DA00C64BD166}" presName="childText" presStyleLbl="conFgAcc1" presStyleIdx="2" presStyleCnt="3">
        <dgm:presLayoutVars>
          <dgm:bulletEnabled val="1"/>
        </dgm:presLayoutVars>
      </dgm:prSet>
      <dgm:spPr/>
    </dgm:pt>
  </dgm:ptLst>
  <dgm:cxnLst>
    <dgm:cxn modelId="{84A00718-5772-419E-A36F-4EF968E10725}" type="presOf" srcId="{B5753992-4D3C-47BA-AA28-E66E9729C345}" destId="{A1D08F76-51E6-416F-908C-5AD2A7A6FF17}" srcOrd="0" destOrd="0" presId="urn:microsoft.com/office/officeart/2005/8/layout/list1"/>
    <dgm:cxn modelId="{23211E2B-83B7-436B-B3D5-0D8E805B4897}" type="presOf" srcId="{33ECE206-5667-428D-A9B9-DA00C64BD166}" destId="{C1A72D3F-8AA1-4202-88B7-0B6E4A530151}" srcOrd="1" destOrd="0" presId="urn:microsoft.com/office/officeart/2005/8/layout/list1"/>
    <dgm:cxn modelId="{CF0FB646-BDE8-4772-A2F8-98A31811529D}" type="presOf" srcId="{FBE0E5C8-1088-4C30-831C-AD16BCF72CD9}" destId="{DFD3E43D-68AA-4720-AA8A-2A7787D3D903}" srcOrd="0" destOrd="0" presId="urn:microsoft.com/office/officeart/2005/8/layout/list1"/>
    <dgm:cxn modelId="{063E6155-E8A1-44A9-B9F6-C301929FAED0}" srcId="{CD98D0F2-A68D-4BDB-9419-C991645DA73A}" destId="{320BA4CB-230A-4EC5-A201-3FF65A4B993D}" srcOrd="0" destOrd="0" parTransId="{9B62432E-0F28-4A39-BCBE-135DA6081A22}" sibTransId="{9699BD25-EB2B-4D4D-90F0-EE313CB66299}"/>
    <dgm:cxn modelId="{E01BD275-DCC6-4522-B3F6-9DA58117B1CE}" type="presOf" srcId="{56B2B777-1AC7-4486-B9E2-C8AB3146D8D1}" destId="{7D3B93F8-9CD3-4485-B0BF-FA3EA6C13523}" srcOrd="0" destOrd="0" presId="urn:microsoft.com/office/officeart/2005/8/layout/list1"/>
    <dgm:cxn modelId="{7864C97F-B498-4E36-8206-E669B8A56CEF}" type="presOf" srcId="{ED41426B-58AC-4AB8-9CE3-CF6532127662}" destId="{3B09FD36-D525-467D-A270-B54FDDBCA79B}" srcOrd="0" destOrd="0" presId="urn:microsoft.com/office/officeart/2005/8/layout/list1"/>
    <dgm:cxn modelId="{65854D81-7BBB-4223-963A-D2E23CE47767}" type="presOf" srcId="{CD98D0F2-A68D-4BDB-9419-C991645DA73A}" destId="{B224581F-12F8-4F13-ACAC-F9E0AB03387F}" srcOrd="0" destOrd="0" presId="urn:microsoft.com/office/officeart/2005/8/layout/list1"/>
    <dgm:cxn modelId="{D8E64E82-51E5-4351-AA6F-688AEFEF5FFF}" type="presOf" srcId="{B5753992-4D3C-47BA-AA28-E66E9729C345}" destId="{E54571D6-CC5E-4134-B5AA-0DB6528B3FAD}" srcOrd="1" destOrd="0" presId="urn:microsoft.com/office/officeart/2005/8/layout/list1"/>
    <dgm:cxn modelId="{D631FD8B-010F-45E3-8C56-A70698173783}" type="presOf" srcId="{CD98D0F2-A68D-4BDB-9419-C991645DA73A}" destId="{6A86217E-6423-488A-A7E8-8A793C6EE430}" srcOrd="1" destOrd="0" presId="urn:microsoft.com/office/officeart/2005/8/layout/list1"/>
    <dgm:cxn modelId="{509EA88F-00EC-4E3C-A405-C52F8114D807}" type="presOf" srcId="{33ECE206-5667-428D-A9B9-DA00C64BD166}" destId="{C28D0206-6CC6-41C5-9F59-7A043E002AE0}" srcOrd="0" destOrd="0" presId="urn:microsoft.com/office/officeart/2005/8/layout/list1"/>
    <dgm:cxn modelId="{B138A89F-AFC6-4647-B965-954492739444}" type="presOf" srcId="{320BA4CB-230A-4EC5-A201-3FF65A4B993D}" destId="{C57C9F9F-2085-4EB2-B77A-4E2320C92621}" srcOrd="0" destOrd="0" presId="urn:microsoft.com/office/officeart/2005/8/layout/list1"/>
    <dgm:cxn modelId="{1EF59EC1-F4CA-4A17-80E4-E7DAECB058E2}" srcId="{ED41426B-58AC-4AB8-9CE3-CF6532127662}" destId="{B5753992-4D3C-47BA-AA28-E66E9729C345}" srcOrd="1" destOrd="0" parTransId="{C27E5606-6624-4B5B-8FB6-A85CA922E595}" sibTransId="{8F01BE72-1A4C-4DEC-A4F3-AECEB2CE7BE4}"/>
    <dgm:cxn modelId="{1631F2CF-BDEF-4F58-89FB-5113475072FB}" srcId="{33ECE206-5667-428D-A9B9-DA00C64BD166}" destId="{FBE0E5C8-1088-4C30-831C-AD16BCF72CD9}" srcOrd="0" destOrd="0" parTransId="{AD4EB215-90F3-49CA-8FA2-F7E779DC4D71}" sibTransId="{18699877-28AF-4444-A637-7135AC98E3D0}"/>
    <dgm:cxn modelId="{A12309D1-2F1B-4D2F-8B92-3FEEEC81D464}" srcId="{ED41426B-58AC-4AB8-9CE3-CF6532127662}" destId="{33ECE206-5667-428D-A9B9-DA00C64BD166}" srcOrd="2" destOrd="0" parTransId="{5ED65E2A-FE9B-4EBD-8C1F-041F2BB16130}" sibTransId="{16F729C0-20E4-46E4-8276-1817CDFDC801}"/>
    <dgm:cxn modelId="{A3CCFCDA-38E7-4946-A298-4EF2EA767555}" srcId="{ED41426B-58AC-4AB8-9CE3-CF6532127662}" destId="{CD98D0F2-A68D-4BDB-9419-C991645DA73A}" srcOrd="0" destOrd="0" parTransId="{EE1B079A-E791-4643-B35D-3B24861510FE}" sibTransId="{74CFD232-696E-4098-8B13-42917B70CD8E}"/>
    <dgm:cxn modelId="{90DE5DF9-061A-43BF-A597-1372E3D73D5D}" srcId="{B5753992-4D3C-47BA-AA28-E66E9729C345}" destId="{56B2B777-1AC7-4486-B9E2-C8AB3146D8D1}" srcOrd="0" destOrd="0" parTransId="{715CEF61-465F-4FF3-B939-9966B2153F7D}" sibTransId="{C8924821-F2D1-438F-8A05-BA972810571E}"/>
    <dgm:cxn modelId="{9852BDF5-9944-47A5-A7CC-747C5251F054}" type="presParOf" srcId="{3B09FD36-D525-467D-A270-B54FDDBCA79B}" destId="{48E833B2-9CBB-4EF7-BBBA-83243B49E7A4}" srcOrd="0" destOrd="0" presId="urn:microsoft.com/office/officeart/2005/8/layout/list1"/>
    <dgm:cxn modelId="{5F7DFF3A-7362-4374-BB28-B924043071DB}" type="presParOf" srcId="{48E833B2-9CBB-4EF7-BBBA-83243B49E7A4}" destId="{B224581F-12F8-4F13-ACAC-F9E0AB03387F}" srcOrd="0" destOrd="0" presId="urn:microsoft.com/office/officeart/2005/8/layout/list1"/>
    <dgm:cxn modelId="{70A17918-41B7-488C-993D-85D370F552B4}" type="presParOf" srcId="{48E833B2-9CBB-4EF7-BBBA-83243B49E7A4}" destId="{6A86217E-6423-488A-A7E8-8A793C6EE430}" srcOrd="1" destOrd="0" presId="urn:microsoft.com/office/officeart/2005/8/layout/list1"/>
    <dgm:cxn modelId="{ACB8E98A-1C7E-4D33-BDEC-E1943EB3FA96}" type="presParOf" srcId="{3B09FD36-D525-467D-A270-B54FDDBCA79B}" destId="{0F6A7765-B1F0-44BE-84B7-2E61D54E99AD}" srcOrd="1" destOrd="0" presId="urn:microsoft.com/office/officeart/2005/8/layout/list1"/>
    <dgm:cxn modelId="{83C8B208-F1D9-41FF-97E2-11A3DDFE57D5}" type="presParOf" srcId="{3B09FD36-D525-467D-A270-B54FDDBCA79B}" destId="{C57C9F9F-2085-4EB2-B77A-4E2320C92621}" srcOrd="2" destOrd="0" presId="urn:microsoft.com/office/officeart/2005/8/layout/list1"/>
    <dgm:cxn modelId="{6A7BF9FA-4300-4708-8E7F-2E4ADF72697F}" type="presParOf" srcId="{3B09FD36-D525-467D-A270-B54FDDBCA79B}" destId="{42441889-988F-4089-94C6-655FB7BEDFC3}" srcOrd="3" destOrd="0" presId="urn:microsoft.com/office/officeart/2005/8/layout/list1"/>
    <dgm:cxn modelId="{47BB150B-FB08-4B15-BECD-1735DB187BA1}" type="presParOf" srcId="{3B09FD36-D525-467D-A270-B54FDDBCA79B}" destId="{C111DCDD-2221-42EF-9F58-58F13C526EC6}" srcOrd="4" destOrd="0" presId="urn:microsoft.com/office/officeart/2005/8/layout/list1"/>
    <dgm:cxn modelId="{EB9C304B-68CE-447F-8130-7905C6DE0850}" type="presParOf" srcId="{C111DCDD-2221-42EF-9F58-58F13C526EC6}" destId="{A1D08F76-51E6-416F-908C-5AD2A7A6FF17}" srcOrd="0" destOrd="0" presId="urn:microsoft.com/office/officeart/2005/8/layout/list1"/>
    <dgm:cxn modelId="{96415832-9008-4FD9-B73B-D87F6810EFB4}" type="presParOf" srcId="{C111DCDD-2221-42EF-9F58-58F13C526EC6}" destId="{E54571D6-CC5E-4134-B5AA-0DB6528B3FAD}" srcOrd="1" destOrd="0" presId="urn:microsoft.com/office/officeart/2005/8/layout/list1"/>
    <dgm:cxn modelId="{DAE32313-47E0-4C0D-8E93-F8528CBFFC58}" type="presParOf" srcId="{3B09FD36-D525-467D-A270-B54FDDBCA79B}" destId="{99BA858D-58E3-47BA-B1DF-76BF5FA74D7F}" srcOrd="5" destOrd="0" presId="urn:microsoft.com/office/officeart/2005/8/layout/list1"/>
    <dgm:cxn modelId="{88A5A5A8-FCAB-4CC0-898B-FDB42089D457}" type="presParOf" srcId="{3B09FD36-D525-467D-A270-B54FDDBCA79B}" destId="{7D3B93F8-9CD3-4485-B0BF-FA3EA6C13523}" srcOrd="6" destOrd="0" presId="urn:microsoft.com/office/officeart/2005/8/layout/list1"/>
    <dgm:cxn modelId="{BDE815AB-0F94-4922-A637-24035BABF28A}" type="presParOf" srcId="{3B09FD36-D525-467D-A270-B54FDDBCA79B}" destId="{DE9AD9B0-AF58-49A8-AEA7-D2E10F1C27F1}" srcOrd="7" destOrd="0" presId="urn:microsoft.com/office/officeart/2005/8/layout/list1"/>
    <dgm:cxn modelId="{2FA0B625-8BDA-4182-9E89-108EC8C0E08C}" type="presParOf" srcId="{3B09FD36-D525-467D-A270-B54FDDBCA79B}" destId="{085721C0-CE0D-4961-89D8-F4D596189663}" srcOrd="8" destOrd="0" presId="urn:microsoft.com/office/officeart/2005/8/layout/list1"/>
    <dgm:cxn modelId="{0D5535F5-657F-4178-B94C-B9205840801C}" type="presParOf" srcId="{085721C0-CE0D-4961-89D8-F4D596189663}" destId="{C28D0206-6CC6-41C5-9F59-7A043E002AE0}" srcOrd="0" destOrd="0" presId="urn:microsoft.com/office/officeart/2005/8/layout/list1"/>
    <dgm:cxn modelId="{8EAC931B-351D-48EE-A8A0-B6C390397BB3}" type="presParOf" srcId="{085721C0-CE0D-4961-89D8-F4D596189663}" destId="{C1A72D3F-8AA1-4202-88B7-0B6E4A530151}" srcOrd="1" destOrd="0" presId="urn:microsoft.com/office/officeart/2005/8/layout/list1"/>
    <dgm:cxn modelId="{91345FD0-C63B-436C-BF81-B98369B8915F}" type="presParOf" srcId="{3B09FD36-D525-467D-A270-B54FDDBCA79B}" destId="{B66A8ADC-2BE0-4432-8BA9-BD571BD7AD89}" srcOrd="9" destOrd="0" presId="urn:microsoft.com/office/officeart/2005/8/layout/list1"/>
    <dgm:cxn modelId="{818312A9-0220-4984-B7EC-9BD8135D01E3}" type="presParOf" srcId="{3B09FD36-D525-467D-A270-B54FDDBCA79B}" destId="{DFD3E43D-68AA-4720-AA8A-2A7787D3D903}"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3BFF1A-9697-497D-BFF4-DAEB276A7E65}">
      <dsp:nvSpPr>
        <dsp:cNvPr id="0" name=""/>
        <dsp:cNvSpPr/>
      </dsp:nvSpPr>
      <dsp:spPr>
        <a:xfrm>
          <a:off x="9286" y="0"/>
          <a:ext cx="2775743" cy="9520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D" sz="2500" kern="1200"/>
            <a:t>[B2B Lead Funnel]</a:t>
          </a:r>
          <a:endParaRPr lang="en-ID" sz="2500" kern="1200" dirty="0"/>
        </a:p>
      </dsp:txBody>
      <dsp:txXfrm>
        <a:off x="37170" y="27884"/>
        <a:ext cx="2719975" cy="896256"/>
      </dsp:txXfrm>
    </dsp:sp>
    <dsp:sp modelId="{40B86026-9A9D-4A5F-9C57-27004728D31A}">
      <dsp:nvSpPr>
        <dsp:cNvPr id="0" name=""/>
        <dsp:cNvSpPr/>
      </dsp:nvSpPr>
      <dsp:spPr>
        <a:xfrm>
          <a:off x="3062605" y="131819"/>
          <a:ext cx="588457" cy="68838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D" sz="2000" kern="1200"/>
        </a:p>
      </dsp:txBody>
      <dsp:txXfrm>
        <a:off x="3062605" y="269496"/>
        <a:ext cx="411920" cy="413030"/>
      </dsp:txXfrm>
    </dsp:sp>
    <dsp:sp modelId="{A3821C47-1906-4470-87AC-3566E3AC4D7A}">
      <dsp:nvSpPr>
        <dsp:cNvPr id="0" name=""/>
        <dsp:cNvSpPr/>
      </dsp:nvSpPr>
      <dsp:spPr>
        <a:xfrm>
          <a:off x="3895328" y="0"/>
          <a:ext cx="2775743" cy="9520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D" sz="2500" kern="1200"/>
            <a:t>[Relational Analytics Core]</a:t>
          </a:r>
          <a:endParaRPr lang="en-ID" sz="2500" kern="1200" dirty="0"/>
        </a:p>
      </dsp:txBody>
      <dsp:txXfrm>
        <a:off x="3923212" y="27884"/>
        <a:ext cx="2719975" cy="896256"/>
      </dsp:txXfrm>
    </dsp:sp>
    <dsp:sp modelId="{12438A97-A2FE-43CB-944D-205C90BECD39}">
      <dsp:nvSpPr>
        <dsp:cNvPr id="0" name=""/>
        <dsp:cNvSpPr/>
      </dsp:nvSpPr>
      <dsp:spPr>
        <a:xfrm>
          <a:off x="6948646" y="131819"/>
          <a:ext cx="588457" cy="68838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D" sz="2000" kern="1200"/>
        </a:p>
      </dsp:txBody>
      <dsp:txXfrm>
        <a:off x="6948646" y="269496"/>
        <a:ext cx="411920" cy="413030"/>
      </dsp:txXfrm>
    </dsp:sp>
    <dsp:sp modelId="{03A006E0-942A-42A9-9FE9-3D68A959363C}">
      <dsp:nvSpPr>
        <dsp:cNvPr id="0" name=""/>
        <dsp:cNvSpPr/>
      </dsp:nvSpPr>
      <dsp:spPr>
        <a:xfrm>
          <a:off x="7781369" y="0"/>
          <a:ext cx="2775743" cy="9520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D" sz="2500" kern="1200" dirty="0"/>
            <a:t>[B2C Customer Loyalty Matrix]</a:t>
          </a:r>
        </a:p>
      </dsp:txBody>
      <dsp:txXfrm>
        <a:off x="7809253" y="27884"/>
        <a:ext cx="2719975" cy="8962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AFAE9-3B93-4013-8FAA-20C468541140}">
      <dsp:nvSpPr>
        <dsp:cNvPr id="0" name=""/>
        <dsp:cNvSpPr/>
      </dsp:nvSpPr>
      <dsp:spPr>
        <a:xfrm>
          <a:off x="0" y="2056"/>
          <a:ext cx="10566400" cy="6715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D" sz="2800" kern="1200" dirty="0"/>
            <a:t>The Blueprint</a:t>
          </a:r>
        </a:p>
      </dsp:txBody>
      <dsp:txXfrm>
        <a:off x="32784" y="34840"/>
        <a:ext cx="10500832" cy="606012"/>
      </dsp:txXfrm>
    </dsp:sp>
    <dsp:sp modelId="{527F21BE-6949-4183-846E-AE3675671CC6}">
      <dsp:nvSpPr>
        <dsp:cNvPr id="0" name=""/>
        <dsp:cNvSpPr/>
      </dsp:nvSpPr>
      <dsp:spPr>
        <a:xfrm>
          <a:off x="0" y="673636"/>
          <a:ext cx="10566400" cy="681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5483"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This project connects two separate worlds that usually don't talk to each other: B2B Merchant Sales Operations and B2C Consumer Product Retention.</a:t>
          </a:r>
          <a:endParaRPr lang="en-ID" sz="2200" kern="1200" dirty="0"/>
        </a:p>
      </dsp:txBody>
      <dsp:txXfrm>
        <a:off x="0" y="673636"/>
        <a:ext cx="10566400" cy="681030"/>
      </dsp:txXfrm>
    </dsp:sp>
    <dsp:sp modelId="{2F47331F-E229-455F-AC75-8A93BD977EC2}">
      <dsp:nvSpPr>
        <dsp:cNvPr id="0" name=""/>
        <dsp:cNvSpPr/>
      </dsp:nvSpPr>
      <dsp:spPr>
        <a:xfrm>
          <a:off x="0" y="1354666"/>
          <a:ext cx="10566400" cy="6715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D" sz="2800" kern="1200" dirty="0"/>
            <a:t>The Value</a:t>
          </a:r>
        </a:p>
      </dsp:txBody>
      <dsp:txXfrm>
        <a:off x="32784" y="1387450"/>
        <a:ext cx="10500832" cy="606012"/>
      </dsp:txXfrm>
    </dsp:sp>
    <dsp:sp modelId="{26C85DE3-3C85-4496-BAD9-3ED14850B840}">
      <dsp:nvSpPr>
        <dsp:cNvPr id="0" name=""/>
        <dsp:cNvSpPr/>
      </dsp:nvSpPr>
      <dsp:spPr>
        <a:xfrm>
          <a:off x="0" y="2026246"/>
          <a:ext cx="10566400" cy="681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5483"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We are tracking every dollar from the initial marketing contact down to long-term buyer engagement.</a:t>
          </a:r>
          <a:endParaRPr lang="en-ID" sz="2200" kern="1200" dirty="0"/>
        </a:p>
      </dsp:txBody>
      <dsp:txXfrm>
        <a:off x="0" y="2026246"/>
        <a:ext cx="10566400" cy="6810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AFAE9-3B93-4013-8FAA-20C468541140}">
      <dsp:nvSpPr>
        <dsp:cNvPr id="0" name=""/>
        <dsp:cNvSpPr/>
      </dsp:nvSpPr>
      <dsp:spPr>
        <a:xfrm>
          <a:off x="0" y="63991"/>
          <a:ext cx="9845040" cy="55165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D" sz="2300" kern="1200" dirty="0"/>
            <a:t>The Disconnect</a:t>
          </a:r>
        </a:p>
      </dsp:txBody>
      <dsp:txXfrm>
        <a:off x="26930" y="90921"/>
        <a:ext cx="9791180" cy="497795"/>
      </dsp:txXfrm>
    </dsp:sp>
    <dsp:sp modelId="{527F21BE-6949-4183-846E-AE3675671CC6}">
      <dsp:nvSpPr>
        <dsp:cNvPr id="0" name=""/>
        <dsp:cNvSpPr/>
      </dsp:nvSpPr>
      <dsp:spPr>
        <a:xfrm>
          <a:off x="0" y="615646"/>
          <a:ext cx="9845040"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58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Buying high traffic numbers means nothing if those channels bring in low-value merchants.</a:t>
          </a:r>
          <a:endParaRPr lang="en-ID" sz="1800" kern="1200" dirty="0"/>
        </a:p>
      </dsp:txBody>
      <dsp:txXfrm>
        <a:off x="0" y="615646"/>
        <a:ext cx="9845040" cy="380880"/>
      </dsp:txXfrm>
    </dsp:sp>
    <dsp:sp modelId="{2F47331F-E229-455F-AC75-8A93BD977EC2}">
      <dsp:nvSpPr>
        <dsp:cNvPr id="0" name=""/>
        <dsp:cNvSpPr/>
      </dsp:nvSpPr>
      <dsp:spPr>
        <a:xfrm>
          <a:off x="0" y="996526"/>
          <a:ext cx="9845040" cy="55165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D" sz="2300" kern="1200" dirty="0"/>
            <a:t>The Consequence</a:t>
          </a:r>
        </a:p>
      </dsp:txBody>
      <dsp:txXfrm>
        <a:off x="26930" y="1023456"/>
        <a:ext cx="9791180" cy="497795"/>
      </dsp:txXfrm>
    </dsp:sp>
    <dsp:sp modelId="{26C85DE3-3C85-4496-BAD9-3ED14850B840}">
      <dsp:nvSpPr>
        <dsp:cNvPr id="0" name=""/>
        <dsp:cNvSpPr/>
      </dsp:nvSpPr>
      <dsp:spPr>
        <a:xfrm>
          <a:off x="0" y="1548181"/>
          <a:ext cx="9845040"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58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The business gets stuck on an expensive acquisition treadmill to keep GMV growing.</a:t>
          </a:r>
          <a:endParaRPr lang="en-ID" sz="1800" kern="1200" dirty="0"/>
        </a:p>
      </dsp:txBody>
      <dsp:txXfrm>
        <a:off x="0" y="1548181"/>
        <a:ext cx="9845040" cy="380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C1B229-0A1B-4C60-954B-A1BC03717097}">
      <dsp:nvSpPr>
        <dsp:cNvPr id="0" name=""/>
        <dsp:cNvSpPr/>
      </dsp:nvSpPr>
      <dsp:spPr>
        <a:xfrm>
          <a:off x="48" y="40524"/>
          <a:ext cx="4600441" cy="66240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ID" sz="2300" kern="1200" dirty="0"/>
            <a:t>The B2B Focus</a:t>
          </a:r>
        </a:p>
      </dsp:txBody>
      <dsp:txXfrm>
        <a:off x="48" y="40524"/>
        <a:ext cx="4600441" cy="662400"/>
      </dsp:txXfrm>
    </dsp:sp>
    <dsp:sp modelId="{EA2E080C-5C2D-41D7-AF8D-D2ABB45B6C53}">
      <dsp:nvSpPr>
        <dsp:cNvPr id="0" name=""/>
        <dsp:cNvSpPr/>
      </dsp:nvSpPr>
      <dsp:spPr>
        <a:xfrm>
          <a:off x="48" y="702924"/>
          <a:ext cx="4600441" cy="220972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Budget Allocation Risk. Marketing spends heavy capital acquiring merchants based on conversion volume rather than actual downstream merchant value.</a:t>
          </a:r>
          <a:endParaRPr lang="en-ID" sz="2300" kern="1200" dirty="0"/>
        </a:p>
      </dsp:txBody>
      <dsp:txXfrm>
        <a:off x="48" y="702924"/>
        <a:ext cx="4600441" cy="2209724"/>
      </dsp:txXfrm>
    </dsp:sp>
    <dsp:sp modelId="{3E8AF1CB-71F8-4463-BC52-570613E31FF8}">
      <dsp:nvSpPr>
        <dsp:cNvPr id="0" name=""/>
        <dsp:cNvSpPr/>
      </dsp:nvSpPr>
      <dsp:spPr>
        <a:xfrm>
          <a:off x="5244550" y="40524"/>
          <a:ext cx="4600441" cy="66240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ID" sz="2300" kern="1200" dirty="0"/>
            <a:t>The B2C Focus</a:t>
          </a:r>
        </a:p>
      </dsp:txBody>
      <dsp:txXfrm>
        <a:off x="5244550" y="40524"/>
        <a:ext cx="4600441" cy="662400"/>
      </dsp:txXfrm>
    </dsp:sp>
    <dsp:sp modelId="{91A25EB4-58FF-4B5E-99B7-8CB07ADE44AD}">
      <dsp:nvSpPr>
        <dsp:cNvPr id="0" name=""/>
        <dsp:cNvSpPr/>
      </dsp:nvSpPr>
      <dsp:spPr>
        <a:xfrm>
          <a:off x="5244550" y="702924"/>
          <a:ext cx="4600441" cy="220972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The Leaky Bucket Phenomenon. Growth breaks down completely if newly acquired merchant inventory fails to generate compounding, high-value repeat customer behavior.</a:t>
          </a:r>
          <a:endParaRPr lang="en-ID" sz="2300" kern="1200" dirty="0"/>
        </a:p>
      </dsp:txBody>
      <dsp:txXfrm>
        <a:off x="5244550" y="702924"/>
        <a:ext cx="4600441" cy="22097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AFAE9-3B93-4013-8FAA-20C468541140}">
      <dsp:nvSpPr>
        <dsp:cNvPr id="0" name=""/>
        <dsp:cNvSpPr/>
      </dsp:nvSpPr>
      <dsp:spPr>
        <a:xfrm>
          <a:off x="0" y="90677"/>
          <a:ext cx="9845040" cy="55165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D" sz="2300" kern="1200"/>
            <a:t>The Operational Problem</a:t>
          </a:r>
          <a:endParaRPr lang="en-ID" sz="2300" kern="1200" dirty="0"/>
        </a:p>
      </dsp:txBody>
      <dsp:txXfrm>
        <a:off x="26930" y="117607"/>
        <a:ext cx="9791180" cy="497795"/>
      </dsp:txXfrm>
    </dsp:sp>
    <dsp:sp modelId="{527F21BE-6949-4183-846E-AE3675671CC6}">
      <dsp:nvSpPr>
        <dsp:cNvPr id="0" name=""/>
        <dsp:cNvSpPr/>
      </dsp:nvSpPr>
      <dsp:spPr>
        <a:xfrm>
          <a:off x="0" y="642332"/>
          <a:ext cx="9845040" cy="559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58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Forcing front-end visualization engines (like Power BI or Tableau) to compute massive, row-by-row timestamp difference loops creates crippling processing lag and system crashes.</a:t>
          </a:r>
          <a:endParaRPr lang="en-ID" sz="1800" kern="1200" dirty="0"/>
        </a:p>
      </dsp:txBody>
      <dsp:txXfrm>
        <a:off x="0" y="642332"/>
        <a:ext cx="9845040" cy="559417"/>
      </dsp:txXfrm>
    </dsp:sp>
    <dsp:sp modelId="{2F47331F-E229-455F-AC75-8A93BD977EC2}">
      <dsp:nvSpPr>
        <dsp:cNvPr id="0" name=""/>
        <dsp:cNvSpPr/>
      </dsp:nvSpPr>
      <dsp:spPr>
        <a:xfrm>
          <a:off x="0" y="1201750"/>
          <a:ext cx="9845040" cy="55165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D" sz="2300" kern="1200"/>
            <a:t>The Engineering Solution</a:t>
          </a:r>
          <a:endParaRPr lang="en-ID" sz="2300" kern="1200" dirty="0"/>
        </a:p>
      </dsp:txBody>
      <dsp:txXfrm>
        <a:off x="26930" y="1228680"/>
        <a:ext cx="9791180" cy="497795"/>
      </dsp:txXfrm>
    </dsp:sp>
    <dsp:sp modelId="{26C85DE3-3C85-4496-BAD9-3ED14850B840}">
      <dsp:nvSpPr>
        <dsp:cNvPr id="0" name=""/>
        <dsp:cNvSpPr/>
      </dsp:nvSpPr>
      <dsp:spPr>
        <a:xfrm>
          <a:off x="0" y="1753405"/>
          <a:ext cx="9845040" cy="809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58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I built an optimized relational analytics warehouse layer directly inside the local SQL Server instance, offloading all heavy transformations and window calculations to the database cluster.</a:t>
          </a:r>
          <a:endParaRPr lang="en-ID" sz="1800" kern="1200" dirty="0"/>
        </a:p>
      </dsp:txBody>
      <dsp:txXfrm>
        <a:off x="0" y="1753405"/>
        <a:ext cx="9845040" cy="8093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822454-BB6A-4FE4-A22E-FADBC55C482C}">
      <dsp:nvSpPr>
        <dsp:cNvPr id="0" name=""/>
        <dsp:cNvSpPr/>
      </dsp:nvSpPr>
      <dsp:spPr>
        <a:xfrm>
          <a:off x="8652" y="88572"/>
          <a:ext cx="2586245" cy="155174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D" sz="2200" kern="1200" dirty="0"/>
            <a:t>Raw CSV Source Tables</a:t>
          </a:r>
        </a:p>
      </dsp:txBody>
      <dsp:txXfrm>
        <a:off x="54101" y="134021"/>
        <a:ext cx="2495347" cy="1460849"/>
      </dsp:txXfrm>
    </dsp:sp>
    <dsp:sp modelId="{9A78D24D-9DC1-4EFD-8F50-DB73991215E1}">
      <dsp:nvSpPr>
        <dsp:cNvPr id="0" name=""/>
        <dsp:cNvSpPr/>
      </dsp:nvSpPr>
      <dsp:spPr>
        <a:xfrm>
          <a:off x="2853523" y="543752"/>
          <a:ext cx="548284" cy="6413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D" sz="1800" kern="1200"/>
        </a:p>
      </dsp:txBody>
      <dsp:txXfrm>
        <a:off x="2853523" y="672030"/>
        <a:ext cx="383799" cy="384832"/>
      </dsp:txXfrm>
    </dsp:sp>
    <dsp:sp modelId="{6787A11F-B7E3-468B-9A03-DE95A1C0F9BE}">
      <dsp:nvSpPr>
        <dsp:cNvPr id="0" name=""/>
        <dsp:cNvSpPr/>
      </dsp:nvSpPr>
      <dsp:spPr>
        <a:xfrm>
          <a:off x="3629397" y="88572"/>
          <a:ext cx="2586245" cy="155174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D" sz="2200" kern="1200" dirty="0"/>
            <a:t>SQL Server Storage Layer (analytics Schema)</a:t>
          </a:r>
        </a:p>
      </dsp:txBody>
      <dsp:txXfrm>
        <a:off x="3674846" y="134021"/>
        <a:ext cx="2495347" cy="1460849"/>
      </dsp:txXfrm>
    </dsp:sp>
    <dsp:sp modelId="{FEDA464A-5F3F-4678-AAFA-847F9DD12C79}">
      <dsp:nvSpPr>
        <dsp:cNvPr id="0" name=""/>
        <dsp:cNvSpPr/>
      </dsp:nvSpPr>
      <dsp:spPr>
        <a:xfrm>
          <a:off x="6474267" y="543752"/>
          <a:ext cx="548284" cy="6413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D" sz="1800" kern="1200"/>
        </a:p>
      </dsp:txBody>
      <dsp:txXfrm>
        <a:off x="6474267" y="672030"/>
        <a:ext cx="383799" cy="384832"/>
      </dsp:txXfrm>
    </dsp:sp>
    <dsp:sp modelId="{61D1B85F-1AFF-4044-8AFA-1A01C181924C}">
      <dsp:nvSpPr>
        <dsp:cNvPr id="0" name=""/>
        <dsp:cNvSpPr/>
      </dsp:nvSpPr>
      <dsp:spPr>
        <a:xfrm>
          <a:off x="7250141" y="88572"/>
          <a:ext cx="2586245" cy="155174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D" sz="2200" kern="1200" dirty="0"/>
            <a:t>Lightweight </a:t>
          </a:r>
          <a:r>
            <a:rPr lang="en-ID" sz="2200" kern="1200" dirty="0" err="1"/>
            <a:t>Jupyter</a:t>
          </a:r>
          <a:r>
            <a:rPr lang="en-ID" sz="2200" kern="1200" dirty="0"/>
            <a:t> Notebook (.</a:t>
          </a:r>
          <a:r>
            <a:rPr lang="en-ID" sz="2200" kern="1200" dirty="0" err="1"/>
            <a:t>ipynb</a:t>
          </a:r>
          <a:r>
            <a:rPr lang="en-ID" sz="2200" kern="1200" dirty="0"/>
            <a:t>) / Power BI Desktop Interface</a:t>
          </a:r>
        </a:p>
      </dsp:txBody>
      <dsp:txXfrm>
        <a:off x="7295590" y="134021"/>
        <a:ext cx="2495347" cy="14608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AFAE9-3B93-4013-8FAA-20C468541140}">
      <dsp:nvSpPr>
        <dsp:cNvPr id="0" name=""/>
        <dsp:cNvSpPr/>
      </dsp:nvSpPr>
      <dsp:spPr>
        <a:xfrm>
          <a:off x="0" y="22423"/>
          <a:ext cx="9845040" cy="43173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D" sz="1800" kern="1200"/>
            <a:t>The Volume Engines</a:t>
          </a:r>
          <a:endParaRPr lang="en-ID" sz="1800" kern="1200" dirty="0"/>
        </a:p>
      </dsp:txBody>
      <dsp:txXfrm>
        <a:off x="21075" y="43498"/>
        <a:ext cx="9802890" cy="389580"/>
      </dsp:txXfrm>
    </dsp:sp>
    <dsp:sp modelId="{527F21BE-6949-4183-846E-AE3675671CC6}">
      <dsp:nvSpPr>
        <dsp:cNvPr id="0" name=""/>
        <dsp:cNvSpPr/>
      </dsp:nvSpPr>
      <dsp:spPr>
        <a:xfrm>
          <a:off x="0" y="454153"/>
          <a:ext cx="9845040"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58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err="1"/>
            <a:t>organic_search</a:t>
          </a:r>
          <a:r>
            <a:rPr lang="en-US" sz="1400" kern="1200" dirty="0"/>
            <a:t> and </a:t>
          </a:r>
          <a:r>
            <a:rPr lang="en-US" sz="1400" kern="1200" dirty="0" err="1"/>
            <a:t>paid_search</a:t>
          </a:r>
          <a:r>
            <a:rPr lang="en-US" sz="1400" kern="1200" dirty="0"/>
            <a:t> are steady baseline pillars, capturing over $207,023 and $155,277 in gross marketplace volume.</a:t>
          </a:r>
          <a:endParaRPr lang="en-ID" sz="1400" kern="1200" dirty="0"/>
        </a:p>
      </dsp:txBody>
      <dsp:txXfrm>
        <a:off x="0" y="454153"/>
        <a:ext cx="9845040" cy="437805"/>
      </dsp:txXfrm>
    </dsp:sp>
    <dsp:sp modelId="{2F47331F-E229-455F-AC75-8A93BD977EC2}">
      <dsp:nvSpPr>
        <dsp:cNvPr id="0" name=""/>
        <dsp:cNvSpPr/>
      </dsp:nvSpPr>
      <dsp:spPr>
        <a:xfrm>
          <a:off x="0" y="891959"/>
          <a:ext cx="9845040" cy="43173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D" sz="1800" kern="1200"/>
            <a:t>The Anomaly</a:t>
          </a:r>
          <a:endParaRPr lang="en-ID" sz="1800" kern="1200" dirty="0"/>
        </a:p>
      </dsp:txBody>
      <dsp:txXfrm>
        <a:off x="21075" y="913034"/>
        <a:ext cx="9802890" cy="389580"/>
      </dsp:txXfrm>
    </dsp:sp>
    <dsp:sp modelId="{26C85DE3-3C85-4496-BAD9-3ED14850B840}">
      <dsp:nvSpPr>
        <dsp:cNvPr id="0" name=""/>
        <dsp:cNvSpPr/>
      </dsp:nvSpPr>
      <dsp:spPr>
        <a:xfrm>
          <a:off x="0" y="1323689"/>
          <a:ext cx="9845040"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58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The unknown origin vector displays our highest financial output ($213,742.70 total GMV) and a spectacular conversion profile (16.29%), yielding $194.49 in revenue per lead.</a:t>
          </a:r>
          <a:endParaRPr lang="en-ID" sz="1400" kern="1200" dirty="0"/>
        </a:p>
      </dsp:txBody>
      <dsp:txXfrm>
        <a:off x="0" y="1323689"/>
        <a:ext cx="9845040" cy="437805"/>
      </dsp:txXfrm>
    </dsp:sp>
    <dsp:sp modelId="{65FE10D9-8B38-4D81-8AEF-2DA3DDC07A03}">
      <dsp:nvSpPr>
        <dsp:cNvPr id="0" name=""/>
        <dsp:cNvSpPr/>
      </dsp:nvSpPr>
      <dsp:spPr>
        <a:xfrm>
          <a:off x="0" y="1761494"/>
          <a:ext cx="9845040" cy="43173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D" sz="1800" kern="1200" dirty="0"/>
            <a:t>The Capital Drain</a:t>
          </a:r>
        </a:p>
      </dsp:txBody>
      <dsp:txXfrm>
        <a:off x="21075" y="1782569"/>
        <a:ext cx="9802890" cy="389580"/>
      </dsp:txXfrm>
    </dsp:sp>
    <dsp:sp modelId="{8844A5CD-7C5A-405B-A7D4-625189F6BDC0}">
      <dsp:nvSpPr>
        <dsp:cNvPr id="0" name=""/>
        <dsp:cNvSpPr/>
      </dsp:nvSpPr>
      <dsp:spPr>
        <a:xfrm>
          <a:off x="0" y="2193224"/>
          <a:ext cx="9845040"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58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social traffic attracts high lead volume (1,350 leads) but suffers from a weak 5.56% conversion rate and takes a punishing 61 days to close.</a:t>
          </a:r>
          <a:endParaRPr lang="en-ID" sz="1400" kern="1200" dirty="0"/>
        </a:p>
      </dsp:txBody>
      <dsp:txXfrm>
        <a:off x="0" y="2193224"/>
        <a:ext cx="9845040" cy="43780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AFAE9-3B93-4013-8FAA-20C468541140}">
      <dsp:nvSpPr>
        <dsp:cNvPr id="0" name=""/>
        <dsp:cNvSpPr/>
      </dsp:nvSpPr>
      <dsp:spPr>
        <a:xfrm>
          <a:off x="0" y="69371"/>
          <a:ext cx="5308600" cy="55165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D" sz="2300" kern="1200" dirty="0"/>
            <a:t>The Mathematical Strategy</a:t>
          </a:r>
        </a:p>
      </dsp:txBody>
      <dsp:txXfrm>
        <a:off x="26930" y="96301"/>
        <a:ext cx="5254740" cy="497795"/>
      </dsp:txXfrm>
    </dsp:sp>
    <dsp:sp modelId="{527F21BE-6949-4183-846E-AE3675671CC6}">
      <dsp:nvSpPr>
        <dsp:cNvPr id="0" name=""/>
        <dsp:cNvSpPr/>
      </dsp:nvSpPr>
      <dsp:spPr>
        <a:xfrm>
          <a:off x="0" y="621026"/>
          <a:ext cx="5308600" cy="1047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54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We grouped customers into cohorts based on their true "first purchase month" using window partitions, calculating chronological return gaps over rolling monthly intervals.</a:t>
          </a:r>
          <a:endParaRPr lang="en-ID" sz="1800" kern="1200" dirty="0"/>
        </a:p>
      </dsp:txBody>
      <dsp:txXfrm>
        <a:off x="0" y="621026"/>
        <a:ext cx="5308600" cy="1047420"/>
      </dsp:txXfrm>
    </dsp:sp>
    <dsp:sp modelId="{2F47331F-E229-455F-AC75-8A93BD977EC2}">
      <dsp:nvSpPr>
        <dsp:cNvPr id="0" name=""/>
        <dsp:cNvSpPr/>
      </dsp:nvSpPr>
      <dsp:spPr>
        <a:xfrm>
          <a:off x="0" y="1668446"/>
          <a:ext cx="5308600" cy="55165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D" sz="2300" kern="1200"/>
            <a:t>The Hard Reality</a:t>
          </a:r>
          <a:endParaRPr lang="en-ID" sz="2300" kern="1200" dirty="0"/>
        </a:p>
      </dsp:txBody>
      <dsp:txXfrm>
        <a:off x="26930" y="1695376"/>
        <a:ext cx="5254740" cy="497795"/>
      </dsp:txXfrm>
    </dsp:sp>
    <dsp:sp modelId="{26C85DE3-3C85-4496-BAD9-3ED14850B840}">
      <dsp:nvSpPr>
        <dsp:cNvPr id="0" name=""/>
        <dsp:cNvSpPr/>
      </dsp:nvSpPr>
      <dsp:spPr>
        <a:xfrm>
          <a:off x="0" y="2220101"/>
          <a:ext cx="5308600" cy="1309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54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Across almost every high-volume 2017-2018 vintage, Month 1 customer retention crashes drastically well below 1% (e.g., Jan 2017 sits at 0.28%, March 2017 at 0.44%, and October 2017 at 0.72%).</a:t>
          </a:r>
          <a:endParaRPr lang="en-ID" sz="1800" kern="1200" dirty="0"/>
        </a:p>
      </dsp:txBody>
      <dsp:txXfrm>
        <a:off x="0" y="2220101"/>
        <a:ext cx="5308600" cy="1309275"/>
      </dsp:txXfrm>
    </dsp:sp>
    <dsp:sp modelId="{65FE10D9-8B38-4D81-8AEF-2DA3DDC07A03}">
      <dsp:nvSpPr>
        <dsp:cNvPr id="0" name=""/>
        <dsp:cNvSpPr/>
      </dsp:nvSpPr>
      <dsp:spPr>
        <a:xfrm>
          <a:off x="0" y="3529376"/>
          <a:ext cx="5308600" cy="55165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D" sz="2300" kern="1200"/>
            <a:t>The Diagnosis</a:t>
          </a:r>
          <a:endParaRPr lang="en-ID" sz="2300" kern="1200" dirty="0"/>
        </a:p>
      </dsp:txBody>
      <dsp:txXfrm>
        <a:off x="26930" y="3556306"/>
        <a:ext cx="5254740" cy="497795"/>
      </dsp:txXfrm>
    </dsp:sp>
    <dsp:sp modelId="{8844A5CD-7C5A-405B-A7D4-625189F6BDC0}">
      <dsp:nvSpPr>
        <dsp:cNvPr id="0" name=""/>
        <dsp:cNvSpPr/>
      </dsp:nvSpPr>
      <dsp:spPr>
        <a:xfrm>
          <a:off x="0" y="4081031"/>
          <a:ext cx="5308600" cy="809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54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The platform possesses a potent customer acquisition machine but a highly volatile customer lifecycle.</a:t>
          </a:r>
          <a:endParaRPr lang="en-ID" sz="1800" kern="1200" dirty="0"/>
        </a:p>
      </dsp:txBody>
      <dsp:txXfrm>
        <a:off x="0" y="4081031"/>
        <a:ext cx="5308600" cy="80937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7C9F9F-2085-4EB2-B77A-4E2320C92621}">
      <dsp:nvSpPr>
        <dsp:cNvPr id="0" name=""/>
        <dsp:cNvSpPr/>
      </dsp:nvSpPr>
      <dsp:spPr>
        <a:xfrm>
          <a:off x="0" y="311686"/>
          <a:ext cx="9845040" cy="11088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4084" tIns="333248" rIns="764084"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De-Anonymize the High-Yield Channel. Immediately deploy product and web operations teams to audit and unmask the unknown traffic channel. It generates our highest yield; we must identify it to scale it.</a:t>
          </a:r>
          <a:endParaRPr lang="en-ID" sz="1600" kern="1200" dirty="0"/>
        </a:p>
      </dsp:txBody>
      <dsp:txXfrm>
        <a:off x="0" y="311686"/>
        <a:ext cx="9845040" cy="1108800"/>
      </dsp:txXfrm>
    </dsp:sp>
    <dsp:sp modelId="{6A86217E-6423-488A-A7E8-8A793C6EE430}">
      <dsp:nvSpPr>
        <dsp:cNvPr id="0" name=""/>
        <dsp:cNvSpPr/>
      </dsp:nvSpPr>
      <dsp:spPr>
        <a:xfrm>
          <a:off x="492252" y="75526"/>
          <a:ext cx="6891528" cy="4723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0483" tIns="0" rIns="260483" bIns="0" numCol="1" spcCol="1270" anchor="ctr" anchorCtr="0">
          <a:noAutofit/>
        </a:bodyPr>
        <a:lstStyle/>
        <a:p>
          <a:pPr marL="0" lvl="0" indent="0" algn="l" defTabSz="711200">
            <a:lnSpc>
              <a:spcPct val="90000"/>
            </a:lnSpc>
            <a:spcBef>
              <a:spcPct val="0"/>
            </a:spcBef>
            <a:spcAft>
              <a:spcPct val="35000"/>
            </a:spcAft>
            <a:buNone/>
          </a:pPr>
          <a:r>
            <a:rPr lang="en-ID" sz="1600" kern="1200"/>
            <a:t>Directive 1</a:t>
          </a:r>
          <a:endParaRPr lang="en-ID" sz="1600" kern="1200" dirty="0"/>
        </a:p>
      </dsp:txBody>
      <dsp:txXfrm>
        <a:off x="515309" y="98583"/>
        <a:ext cx="6845414" cy="426206"/>
      </dsp:txXfrm>
    </dsp:sp>
    <dsp:sp modelId="{7D3B93F8-9CD3-4485-B0BF-FA3EA6C13523}">
      <dsp:nvSpPr>
        <dsp:cNvPr id="0" name=""/>
        <dsp:cNvSpPr/>
      </dsp:nvSpPr>
      <dsp:spPr>
        <a:xfrm>
          <a:off x="0" y="1743046"/>
          <a:ext cx="9845040" cy="9072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4084" tIns="333248" rIns="764084"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Throttle or Redesign Social Budgets. Freeze or aggressively optimize capital allocation away from broad social campaigns. It acts as an operational resource drain.</a:t>
          </a:r>
          <a:endParaRPr lang="en-ID" sz="1600" kern="1200" dirty="0"/>
        </a:p>
      </dsp:txBody>
      <dsp:txXfrm>
        <a:off x="0" y="1743046"/>
        <a:ext cx="9845040" cy="907200"/>
      </dsp:txXfrm>
    </dsp:sp>
    <dsp:sp modelId="{E54571D6-CC5E-4134-B5AA-0DB6528B3FAD}">
      <dsp:nvSpPr>
        <dsp:cNvPr id="0" name=""/>
        <dsp:cNvSpPr/>
      </dsp:nvSpPr>
      <dsp:spPr>
        <a:xfrm>
          <a:off x="492252" y="1506886"/>
          <a:ext cx="6891528" cy="4723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0483" tIns="0" rIns="260483" bIns="0" numCol="1" spcCol="1270" anchor="ctr" anchorCtr="0">
          <a:noAutofit/>
        </a:bodyPr>
        <a:lstStyle/>
        <a:p>
          <a:pPr marL="0" lvl="0" indent="0" algn="l" defTabSz="711200">
            <a:lnSpc>
              <a:spcPct val="90000"/>
            </a:lnSpc>
            <a:spcBef>
              <a:spcPct val="0"/>
            </a:spcBef>
            <a:spcAft>
              <a:spcPct val="35000"/>
            </a:spcAft>
            <a:buNone/>
          </a:pPr>
          <a:r>
            <a:rPr lang="en-ID" sz="1600" kern="1200"/>
            <a:t>Directive 2</a:t>
          </a:r>
          <a:endParaRPr lang="en-ID" sz="1600" kern="1200" dirty="0"/>
        </a:p>
      </dsp:txBody>
      <dsp:txXfrm>
        <a:off x="515309" y="1529943"/>
        <a:ext cx="6845414" cy="426206"/>
      </dsp:txXfrm>
    </dsp:sp>
    <dsp:sp modelId="{DFD3E43D-68AA-4720-AA8A-2A7787D3D903}">
      <dsp:nvSpPr>
        <dsp:cNvPr id="0" name=""/>
        <dsp:cNvSpPr/>
      </dsp:nvSpPr>
      <dsp:spPr>
        <a:xfrm>
          <a:off x="0" y="2972806"/>
          <a:ext cx="9845040" cy="11088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4084" tIns="333248" rIns="764084"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Pivot to Bottom-of-Funnel Nurturing. Shift a substantial portion of marketing capital from expensive top-of-funnel customer acquisition into automated lifecycle retention triggers (loyalty rewards, smart email re-engagement, and vendor verification safeguards).</a:t>
          </a:r>
          <a:endParaRPr lang="en-ID" sz="1600" kern="1200" dirty="0"/>
        </a:p>
      </dsp:txBody>
      <dsp:txXfrm>
        <a:off x="0" y="2972806"/>
        <a:ext cx="9845040" cy="1108800"/>
      </dsp:txXfrm>
    </dsp:sp>
    <dsp:sp modelId="{C1A72D3F-8AA1-4202-88B7-0B6E4A530151}">
      <dsp:nvSpPr>
        <dsp:cNvPr id="0" name=""/>
        <dsp:cNvSpPr/>
      </dsp:nvSpPr>
      <dsp:spPr>
        <a:xfrm>
          <a:off x="492252" y="2736646"/>
          <a:ext cx="6891528" cy="4723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0483" tIns="0" rIns="260483" bIns="0" numCol="1" spcCol="1270" anchor="ctr" anchorCtr="0">
          <a:noAutofit/>
        </a:bodyPr>
        <a:lstStyle/>
        <a:p>
          <a:pPr marL="0" lvl="0" indent="0" algn="l" defTabSz="711200">
            <a:lnSpc>
              <a:spcPct val="90000"/>
            </a:lnSpc>
            <a:spcBef>
              <a:spcPct val="0"/>
            </a:spcBef>
            <a:spcAft>
              <a:spcPct val="35000"/>
            </a:spcAft>
            <a:buNone/>
          </a:pPr>
          <a:r>
            <a:rPr lang="en-ID" sz="1600" kern="1200"/>
            <a:t>Directive 3</a:t>
          </a:r>
          <a:endParaRPr lang="en-ID" sz="1600" kern="1200" dirty="0"/>
        </a:p>
      </dsp:txBody>
      <dsp:txXfrm>
        <a:off x="515309" y="2759703"/>
        <a:ext cx="6845414"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6/28/2026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6/28/2026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am sharing the B2B2C Marketplace Growth &amp; Retention Framework. In most organizations, marketing focuses entirely on merchant acquisition, while product management focuses entirely on customer retention. I engineered this project to bridge that operational gap, building a data pipeline that maps lead acquisition spend directly to long-term consumer transaction value.</a:t>
            </a:r>
            <a:endParaRPr lang="en-ID"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2674454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code, let's look at the business problem. Our organization faces a growth paradox. We are allocating acquisition budget based on top-of-funnel lead volumes, completely blind to downstream quality. If we onboard hundreds of low-value sellers whose inventory can't keep buyers coming back, we are stuck operating a 'leaky bucket'—dangerously reliant on continuous, expensive ad spend to maintain marketplace growth.</a:t>
            </a:r>
            <a:endParaRPr lang="en-ID"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2335306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724B1-BD7C-9BC3-2A86-4291965C4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BF7D6-A59C-3B4F-F0E6-FDD28A339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0A47A3-4184-0AA3-6A21-93F00770ABDE}"/>
              </a:ext>
            </a:extLst>
          </p:cNvPr>
          <p:cNvSpPr>
            <a:spLocks noGrp="1"/>
          </p:cNvSpPr>
          <p:nvPr>
            <p:ph type="body" idx="1"/>
          </p:nvPr>
        </p:nvSpPr>
        <p:spPr/>
        <p:txBody>
          <a:bodyPr/>
          <a:lstStyle/>
          <a:p>
            <a:r>
              <a:rPr lang="en-US" dirty="0"/>
              <a:t>To solve this sustainably, I designed a decoupled data pipeline. A common mistake is forcing front-end reporting engines to crunch complex date truncations and window functions over millions of rows, which leads to heavy dashboard lag. Instead, I isolated our core tables inside a type-safe database layer inside SQL Server. The database runs the heavy mathematical operations, outputting lightweight aggregated arrays that allow our visualization interface to run lightning-fast.</a:t>
            </a:r>
            <a:endParaRPr lang="en-ID" dirty="0"/>
          </a:p>
        </p:txBody>
      </p:sp>
      <p:sp>
        <p:nvSpPr>
          <p:cNvPr id="4" name="Slide Number Placeholder 3">
            <a:extLst>
              <a:ext uri="{FF2B5EF4-FFF2-40B4-BE49-F238E27FC236}">
                <a16:creationId xmlns:a16="http://schemas.microsoft.com/office/drawing/2014/main" id="{631F8E69-B824-2A3A-4482-55B1E95191EB}"/>
              </a:ext>
            </a:extLst>
          </p:cNvPr>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3232904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C717A-4F0B-8279-CDEE-73B1FE65F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1D02E-74EC-3EB7-627B-1588CA89D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68B7E9-62BE-8689-E64E-7CE74630F008}"/>
              </a:ext>
            </a:extLst>
          </p:cNvPr>
          <p:cNvSpPr>
            <a:spLocks noGrp="1"/>
          </p:cNvSpPr>
          <p:nvPr>
            <p:ph type="body" idx="1"/>
          </p:nvPr>
        </p:nvSpPr>
        <p:spPr/>
        <p:txBody>
          <a:bodyPr/>
          <a:lstStyle/>
          <a:p>
            <a:r>
              <a:rPr lang="en-US" dirty="0"/>
              <a:t>Now for the hard evidence. The diagnostic pipeline revealed two critical insights. First, our organic and paid search channels are highly stable baseline drivers. However, the data uncovered a major anomaly: an 'unknown' traffic segment that converts at an elite 16.29% and generates our highest yield per lead. Conversely, our 'social' ad spend is a major operational drain—bringing in high volumes but converting at a dismal 5.56% with a slow 61-day sales cycle.</a:t>
            </a:r>
            <a:endParaRPr lang="en-ID" dirty="0"/>
          </a:p>
        </p:txBody>
      </p:sp>
      <p:sp>
        <p:nvSpPr>
          <p:cNvPr id="4" name="Slide Number Placeholder 3">
            <a:extLst>
              <a:ext uri="{FF2B5EF4-FFF2-40B4-BE49-F238E27FC236}">
                <a16:creationId xmlns:a16="http://schemas.microsoft.com/office/drawing/2014/main" id="{402D18CC-D7CD-D072-D163-B13DB6D10BC5}"/>
              </a:ext>
            </a:extLst>
          </p:cNvPr>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3177833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066EF-83EA-730E-E411-23790751A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72AC6-54DF-0CF3-A7ED-592457286D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84471-5246-E36F-37B9-C6A758A41E7D}"/>
              </a:ext>
            </a:extLst>
          </p:cNvPr>
          <p:cNvSpPr>
            <a:spLocks noGrp="1"/>
          </p:cNvSpPr>
          <p:nvPr>
            <p:ph type="body" idx="1"/>
          </p:nvPr>
        </p:nvSpPr>
        <p:spPr/>
        <p:txBody>
          <a:bodyPr/>
          <a:lstStyle/>
          <a:p>
            <a:r>
              <a:rPr lang="en-US" dirty="0"/>
              <a:t>Moving to the B2C side, we confront our platform's retention health. By tracking unique customer footprints longitudinally over rolling month indexes, the cohort matrix reveals an undeniable pattern. Across all historical cohorts, our Month 1 retention drops drastically below 1%. This proves our thesis: our customer acquisition machine is working, but our customer retention engine is broken. We are spending heavily to win customers who buy once and never return.</a:t>
            </a:r>
            <a:endParaRPr lang="en-ID" dirty="0"/>
          </a:p>
        </p:txBody>
      </p:sp>
      <p:sp>
        <p:nvSpPr>
          <p:cNvPr id="4" name="Slide Number Placeholder 3">
            <a:extLst>
              <a:ext uri="{FF2B5EF4-FFF2-40B4-BE49-F238E27FC236}">
                <a16:creationId xmlns:a16="http://schemas.microsoft.com/office/drawing/2014/main" id="{454A2CD2-8138-354D-BD21-63F387E56122}"/>
              </a:ext>
            </a:extLst>
          </p:cNvPr>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1844609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E3C0-4C65-1EA9-91FA-8C8B328D7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698DF-0912-74E4-E045-FE65C821B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C8F32-8A9B-B01D-2AD3-35602F2603D1}"/>
              </a:ext>
            </a:extLst>
          </p:cNvPr>
          <p:cNvSpPr>
            <a:spLocks noGrp="1"/>
          </p:cNvSpPr>
          <p:nvPr>
            <p:ph type="body" idx="1"/>
          </p:nvPr>
        </p:nvSpPr>
        <p:spPr/>
        <p:txBody>
          <a:bodyPr/>
          <a:lstStyle/>
          <a:p>
            <a:r>
              <a:rPr lang="en-US" dirty="0"/>
              <a:t>To drive bottom-line impact, I have structured three clear corporate directives for leadership. First, we must immediately deploy engineering to track down and identify that high-performing 'unknown' traffic source so we can replicate it. Second, we need to freeze or optimize our broad 'social' ad spend to stop burning cash on a low-converting channel. Finally, because buyer retention drops instantly, we must pivot our focus from expensive top-of-funnel customer acquisition toward bottom-of-funnel lifecycle nurture programs to plug the leak in our marketplace bucket. Thank you.</a:t>
            </a:r>
            <a:endParaRPr lang="en-ID" dirty="0"/>
          </a:p>
        </p:txBody>
      </p:sp>
      <p:sp>
        <p:nvSpPr>
          <p:cNvPr id="4" name="Slide Number Placeholder 3">
            <a:extLst>
              <a:ext uri="{FF2B5EF4-FFF2-40B4-BE49-F238E27FC236}">
                <a16:creationId xmlns:a16="http://schemas.microsoft.com/office/drawing/2014/main" id="{EC5D67C2-CD28-2506-4488-333DCF690EA3}"/>
              </a:ext>
            </a:extLst>
          </p:cNvPr>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38182716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2956560" y="3698930"/>
            <a:ext cx="8401251" cy="1122202"/>
          </a:xfrm>
        </p:spPr>
        <p:txBody>
          <a:bodyPr/>
          <a:lstStyle/>
          <a:p>
            <a:pPr algn="r"/>
            <a:r>
              <a:rPr lang="en-US" dirty="0"/>
              <a:t>The B2B2C Marketplace Growth &amp; Retention Framework</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2956560" y="5709654"/>
            <a:ext cx="8401251" cy="396660"/>
          </a:xfrm>
        </p:spPr>
        <p:txBody>
          <a:bodyPr/>
          <a:lstStyle/>
          <a:p>
            <a:pPr algn="r"/>
            <a:r>
              <a:rPr lang="en-US" dirty="0"/>
              <a:t>Dwi Budi Setyonugroho</a:t>
            </a:r>
          </a:p>
        </p:txBody>
      </p:sp>
      <p:sp>
        <p:nvSpPr>
          <p:cNvPr id="4" name="Title 1">
            <a:extLst>
              <a:ext uri="{FF2B5EF4-FFF2-40B4-BE49-F238E27FC236}">
                <a16:creationId xmlns:a16="http://schemas.microsoft.com/office/drawing/2014/main" id="{C5373F4F-2932-DE09-1DE3-B740A64BF314}"/>
              </a:ext>
            </a:extLst>
          </p:cNvPr>
          <p:cNvSpPr txBox="1">
            <a:spLocks/>
          </p:cNvSpPr>
          <p:nvPr/>
        </p:nvSpPr>
        <p:spPr>
          <a:xfrm>
            <a:off x="2956560" y="4628092"/>
            <a:ext cx="8401251" cy="77628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kern="1200" cap="all" spc="150" baseline="0">
                <a:solidFill>
                  <a:schemeClr val="tx1">
                    <a:lumMod val="75000"/>
                    <a:lumOff val="25000"/>
                  </a:schemeClr>
                </a:solidFill>
                <a:latin typeface="+mj-lt"/>
                <a:ea typeface="+mj-ea"/>
                <a:cs typeface="+mj-cs"/>
              </a:defRPr>
            </a:lvl1pPr>
          </a:lstStyle>
          <a:p>
            <a:pPr algn="r"/>
            <a:r>
              <a:rPr lang="en-US" sz="2000" dirty="0"/>
              <a:t>Tracing Enterprise Capital Efficiency from Lead Acquisition to Longitudinal Customer Loyalty</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127DA-957B-9CDE-3DC9-8E130D4DA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E349A-0724-54F0-9657-FCE8FC8AD131}"/>
              </a:ext>
            </a:extLst>
          </p:cNvPr>
          <p:cNvSpPr>
            <a:spLocks noGrp="1"/>
          </p:cNvSpPr>
          <p:nvPr>
            <p:ph type="title"/>
          </p:nvPr>
        </p:nvSpPr>
        <p:spPr>
          <a:xfrm>
            <a:off x="1885156" y="109857"/>
            <a:ext cx="8421688" cy="1325563"/>
          </a:xfrm>
        </p:spPr>
        <p:txBody>
          <a:bodyPr/>
          <a:lstStyle/>
          <a:p>
            <a:r>
              <a:rPr lang="en-US" dirty="0"/>
              <a:t>The B2B2C Marketplace Growth &amp; Retention Framework</a:t>
            </a:r>
          </a:p>
        </p:txBody>
      </p:sp>
      <p:sp>
        <p:nvSpPr>
          <p:cNvPr id="3" name="Content Placeholder 2">
            <a:extLst>
              <a:ext uri="{FF2B5EF4-FFF2-40B4-BE49-F238E27FC236}">
                <a16:creationId xmlns:a16="http://schemas.microsoft.com/office/drawing/2014/main" id="{9ED89DC2-02B8-7E56-0FF6-417C90A520E9}"/>
              </a:ext>
            </a:extLst>
          </p:cNvPr>
          <p:cNvSpPr>
            <a:spLocks noGrp="1"/>
          </p:cNvSpPr>
          <p:nvPr>
            <p:ph type="body" sz="quarter" idx="13"/>
          </p:nvPr>
        </p:nvSpPr>
        <p:spPr>
          <a:xfrm>
            <a:off x="1658858" y="1191581"/>
            <a:ext cx="8874284" cy="710508"/>
          </a:xfrm>
        </p:spPr>
        <p:txBody>
          <a:bodyPr vert="horz" lIns="91440" tIns="45720" rIns="91440" bIns="45720" rtlCol="0" anchor="t">
            <a:normAutofit/>
          </a:bodyPr>
          <a:lstStyle/>
          <a:p>
            <a:r>
              <a:rPr lang="en-US" dirty="0"/>
              <a:t>Tracing Enterprise Capital Efficiency from Lead Acquisition to Longitudinal Customer Loyalty</a:t>
            </a:r>
          </a:p>
        </p:txBody>
      </p:sp>
      <p:graphicFrame>
        <p:nvGraphicFramePr>
          <p:cNvPr id="23" name="Diagram 22">
            <a:extLst>
              <a:ext uri="{FF2B5EF4-FFF2-40B4-BE49-F238E27FC236}">
                <a16:creationId xmlns:a16="http://schemas.microsoft.com/office/drawing/2014/main" id="{E011BD54-AADE-6F2D-79B3-C65E410ECE07}"/>
              </a:ext>
            </a:extLst>
          </p:cNvPr>
          <p:cNvGraphicFramePr/>
          <p:nvPr>
            <p:extLst>
              <p:ext uri="{D42A27DB-BD31-4B8C-83A1-F6EECF244321}">
                <p14:modId xmlns:p14="http://schemas.microsoft.com/office/powerpoint/2010/main" val="1955771039"/>
              </p:ext>
            </p:extLst>
          </p:nvPr>
        </p:nvGraphicFramePr>
        <p:xfrm>
          <a:off x="812800" y="2283832"/>
          <a:ext cx="10566400" cy="9520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6" name="Diagram 25">
            <a:extLst>
              <a:ext uri="{FF2B5EF4-FFF2-40B4-BE49-F238E27FC236}">
                <a16:creationId xmlns:a16="http://schemas.microsoft.com/office/drawing/2014/main" id="{E098A339-BAB2-CFD1-7CB1-B116FB5B4602}"/>
              </a:ext>
            </a:extLst>
          </p:cNvPr>
          <p:cNvGraphicFramePr/>
          <p:nvPr>
            <p:extLst>
              <p:ext uri="{D42A27DB-BD31-4B8C-83A1-F6EECF244321}">
                <p14:modId xmlns:p14="http://schemas.microsoft.com/office/powerpoint/2010/main" val="2058776498"/>
              </p:ext>
            </p:extLst>
          </p:nvPr>
        </p:nvGraphicFramePr>
        <p:xfrm>
          <a:off x="812800" y="3754120"/>
          <a:ext cx="10566400" cy="27093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576457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0A2A4-9E76-2899-19D5-C78BD845C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D4200-A3E5-3168-5A82-99766D796705}"/>
              </a:ext>
            </a:extLst>
          </p:cNvPr>
          <p:cNvSpPr>
            <a:spLocks noGrp="1"/>
          </p:cNvSpPr>
          <p:nvPr>
            <p:ph type="title"/>
          </p:nvPr>
        </p:nvSpPr>
        <p:spPr>
          <a:xfrm>
            <a:off x="1885156" y="109857"/>
            <a:ext cx="8421688" cy="1325563"/>
          </a:xfrm>
        </p:spPr>
        <p:txBody>
          <a:bodyPr/>
          <a:lstStyle/>
          <a:p>
            <a:r>
              <a:rPr lang="en-US" dirty="0"/>
              <a:t>Evaluating the Corporate Growth Paradox</a:t>
            </a:r>
          </a:p>
        </p:txBody>
      </p:sp>
      <p:graphicFrame>
        <p:nvGraphicFramePr>
          <p:cNvPr id="26" name="Diagram 25">
            <a:extLst>
              <a:ext uri="{FF2B5EF4-FFF2-40B4-BE49-F238E27FC236}">
                <a16:creationId xmlns:a16="http://schemas.microsoft.com/office/drawing/2014/main" id="{94046F33-A166-872C-8364-930FF1052F43}"/>
              </a:ext>
            </a:extLst>
          </p:cNvPr>
          <p:cNvGraphicFramePr/>
          <p:nvPr>
            <p:extLst>
              <p:ext uri="{D42A27DB-BD31-4B8C-83A1-F6EECF244321}">
                <p14:modId xmlns:p14="http://schemas.microsoft.com/office/powerpoint/2010/main" val="3491701120"/>
              </p:ext>
            </p:extLst>
          </p:nvPr>
        </p:nvGraphicFramePr>
        <p:xfrm>
          <a:off x="1173480" y="4409440"/>
          <a:ext cx="9845040" cy="19930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DDCB89B0-4E07-F555-21CD-537DF075C90B}"/>
              </a:ext>
            </a:extLst>
          </p:cNvPr>
          <p:cNvGraphicFramePr/>
          <p:nvPr>
            <p:extLst>
              <p:ext uri="{D42A27DB-BD31-4B8C-83A1-F6EECF244321}">
                <p14:modId xmlns:p14="http://schemas.microsoft.com/office/powerpoint/2010/main" val="2379199733"/>
              </p:ext>
            </p:extLst>
          </p:nvPr>
        </p:nvGraphicFramePr>
        <p:xfrm>
          <a:off x="1173480" y="1227667"/>
          <a:ext cx="9845040" cy="295317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017967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AB696-7223-40CB-A290-917AE2BDA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40851-C1AD-D71D-4434-6580B5E5F363}"/>
              </a:ext>
            </a:extLst>
          </p:cNvPr>
          <p:cNvSpPr>
            <a:spLocks noGrp="1"/>
          </p:cNvSpPr>
          <p:nvPr>
            <p:ph type="title"/>
          </p:nvPr>
        </p:nvSpPr>
        <p:spPr>
          <a:xfrm>
            <a:off x="1885156" y="109857"/>
            <a:ext cx="8421688" cy="1325563"/>
          </a:xfrm>
        </p:spPr>
        <p:txBody>
          <a:bodyPr/>
          <a:lstStyle/>
          <a:p>
            <a:r>
              <a:rPr lang="en-US" dirty="0"/>
              <a:t>Decoupled 3-Tier Data Pipeline Architecture</a:t>
            </a:r>
          </a:p>
        </p:txBody>
      </p:sp>
      <p:graphicFrame>
        <p:nvGraphicFramePr>
          <p:cNvPr id="26" name="Diagram 25">
            <a:extLst>
              <a:ext uri="{FF2B5EF4-FFF2-40B4-BE49-F238E27FC236}">
                <a16:creationId xmlns:a16="http://schemas.microsoft.com/office/drawing/2014/main" id="{2D954503-E951-1FFD-9B3D-104F1DEA06A6}"/>
              </a:ext>
            </a:extLst>
          </p:cNvPr>
          <p:cNvGraphicFramePr/>
          <p:nvPr>
            <p:extLst>
              <p:ext uri="{D42A27DB-BD31-4B8C-83A1-F6EECF244321}">
                <p14:modId xmlns:p14="http://schemas.microsoft.com/office/powerpoint/2010/main" val="736713035"/>
              </p:ext>
            </p:extLst>
          </p:nvPr>
        </p:nvGraphicFramePr>
        <p:xfrm>
          <a:off x="1173480" y="3749040"/>
          <a:ext cx="9845040" cy="2653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8F02A835-3773-61E2-0879-189DA9EB53FC}"/>
              </a:ext>
            </a:extLst>
          </p:cNvPr>
          <p:cNvGraphicFramePr/>
          <p:nvPr>
            <p:extLst>
              <p:ext uri="{D42A27DB-BD31-4B8C-83A1-F6EECF244321}">
                <p14:modId xmlns:p14="http://schemas.microsoft.com/office/powerpoint/2010/main" val="2087180040"/>
              </p:ext>
            </p:extLst>
          </p:nvPr>
        </p:nvGraphicFramePr>
        <p:xfrm>
          <a:off x="1173480" y="1584113"/>
          <a:ext cx="9845040" cy="17288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83137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8F207-A390-29DD-B951-67F23A282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F9326-B6BD-8A7B-91FA-C05385808A13}"/>
              </a:ext>
            </a:extLst>
          </p:cNvPr>
          <p:cNvSpPr>
            <a:spLocks noGrp="1"/>
          </p:cNvSpPr>
          <p:nvPr>
            <p:ph type="title"/>
          </p:nvPr>
        </p:nvSpPr>
        <p:spPr>
          <a:xfrm>
            <a:off x="1885156" y="109857"/>
            <a:ext cx="8421688" cy="1325563"/>
          </a:xfrm>
        </p:spPr>
        <p:txBody>
          <a:bodyPr/>
          <a:lstStyle/>
          <a:p>
            <a:r>
              <a:rPr lang="en-US" dirty="0"/>
              <a:t>Diagnostic Analytics: Marketing Channel Yield &amp; Conversion Efficiency</a:t>
            </a:r>
          </a:p>
        </p:txBody>
      </p:sp>
      <p:graphicFrame>
        <p:nvGraphicFramePr>
          <p:cNvPr id="26" name="Diagram 25">
            <a:extLst>
              <a:ext uri="{FF2B5EF4-FFF2-40B4-BE49-F238E27FC236}">
                <a16:creationId xmlns:a16="http://schemas.microsoft.com/office/drawing/2014/main" id="{48D2E23D-ED33-F1DB-5D3F-07F44340862D}"/>
              </a:ext>
            </a:extLst>
          </p:cNvPr>
          <p:cNvGraphicFramePr/>
          <p:nvPr>
            <p:extLst>
              <p:ext uri="{D42A27DB-BD31-4B8C-83A1-F6EECF244321}">
                <p14:modId xmlns:p14="http://schemas.microsoft.com/office/powerpoint/2010/main" val="192006781"/>
              </p:ext>
            </p:extLst>
          </p:nvPr>
        </p:nvGraphicFramePr>
        <p:xfrm>
          <a:off x="1173480" y="3850640"/>
          <a:ext cx="9845040" cy="2653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72430E1F-4939-79C3-3A6F-E84779DAC19B}"/>
              </a:ext>
            </a:extLst>
          </p:cNvPr>
          <p:cNvGraphicFramePr>
            <a:graphicFrameLocks noGrp="1"/>
          </p:cNvGraphicFramePr>
          <p:nvPr>
            <p:extLst>
              <p:ext uri="{D42A27DB-BD31-4B8C-83A1-F6EECF244321}">
                <p14:modId xmlns:p14="http://schemas.microsoft.com/office/powerpoint/2010/main" val="4246065202"/>
              </p:ext>
            </p:extLst>
          </p:nvPr>
        </p:nvGraphicFramePr>
        <p:xfrm>
          <a:off x="1885155" y="1435420"/>
          <a:ext cx="8421690" cy="2123440"/>
        </p:xfrm>
        <a:graphic>
          <a:graphicData uri="http://schemas.openxmlformats.org/drawingml/2006/table">
            <a:tbl>
              <a:tblPr firstRow="1" bandRow="1">
                <a:tableStyleId>{5202B0CA-FC54-4496-8BCA-5EF66A818D29}</a:tableStyleId>
              </a:tblPr>
              <a:tblGrid>
                <a:gridCol w="1684338">
                  <a:extLst>
                    <a:ext uri="{9D8B030D-6E8A-4147-A177-3AD203B41FA5}">
                      <a16:colId xmlns:a16="http://schemas.microsoft.com/office/drawing/2014/main" val="435785124"/>
                    </a:ext>
                  </a:extLst>
                </a:gridCol>
                <a:gridCol w="1684338">
                  <a:extLst>
                    <a:ext uri="{9D8B030D-6E8A-4147-A177-3AD203B41FA5}">
                      <a16:colId xmlns:a16="http://schemas.microsoft.com/office/drawing/2014/main" val="579467110"/>
                    </a:ext>
                  </a:extLst>
                </a:gridCol>
                <a:gridCol w="1684338">
                  <a:extLst>
                    <a:ext uri="{9D8B030D-6E8A-4147-A177-3AD203B41FA5}">
                      <a16:colId xmlns:a16="http://schemas.microsoft.com/office/drawing/2014/main" val="1707975369"/>
                    </a:ext>
                  </a:extLst>
                </a:gridCol>
                <a:gridCol w="1684338">
                  <a:extLst>
                    <a:ext uri="{9D8B030D-6E8A-4147-A177-3AD203B41FA5}">
                      <a16:colId xmlns:a16="http://schemas.microsoft.com/office/drawing/2014/main" val="1635244214"/>
                    </a:ext>
                  </a:extLst>
                </a:gridCol>
                <a:gridCol w="1684338">
                  <a:extLst>
                    <a:ext uri="{9D8B030D-6E8A-4147-A177-3AD203B41FA5}">
                      <a16:colId xmlns:a16="http://schemas.microsoft.com/office/drawing/2014/main" val="1969514648"/>
                    </a:ext>
                  </a:extLst>
                </a:gridCol>
              </a:tblGrid>
              <a:tr h="370840">
                <a:tc>
                  <a:txBody>
                    <a:bodyPr/>
                    <a:lstStyle/>
                    <a:p>
                      <a:pPr algn="ctr"/>
                      <a:r>
                        <a:rPr lang="en-ID" dirty="0"/>
                        <a:t>Rank</a:t>
                      </a:r>
                    </a:p>
                  </a:txBody>
                  <a:tcPr anchor="ctr"/>
                </a:tc>
                <a:tc>
                  <a:txBody>
                    <a:bodyPr/>
                    <a:lstStyle/>
                    <a:p>
                      <a:pPr algn="ctr"/>
                      <a:r>
                        <a:rPr lang="en-ID" dirty="0"/>
                        <a:t>Marketing Channel</a:t>
                      </a:r>
                    </a:p>
                  </a:txBody>
                  <a:tcPr anchor="ctr"/>
                </a:tc>
                <a:tc>
                  <a:txBody>
                    <a:bodyPr/>
                    <a:lstStyle/>
                    <a:p>
                      <a:pPr algn="ctr"/>
                      <a:r>
                        <a:rPr lang="en-US" dirty="0"/>
                        <a:t>Total GMV Generated</a:t>
                      </a:r>
                      <a:endParaRPr lang="en-ID" dirty="0"/>
                    </a:p>
                  </a:txBody>
                  <a:tcPr anchor="ctr"/>
                </a:tc>
                <a:tc>
                  <a:txBody>
                    <a:bodyPr/>
                    <a:lstStyle/>
                    <a:p>
                      <a:pPr algn="ctr"/>
                      <a:r>
                        <a:rPr lang="en-US" dirty="0"/>
                        <a:t>Conversion Rate %</a:t>
                      </a:r>
                      <a:endParaRPr lang="en-ID" dirty="0"/>
                    </a:p>
                  </a:txBody>
                  <a:tcPr anchor="ctr"/>
                </a:tc>
                <a:tc>
                  <a:txBody>
                    <a:bodyPr/>
                    <a:lstStyle/>
                    <a:p>
                      <a:pPr algn="ctr"/>
                      <a:r>
                        <a:rPr lang="en-US" dirty="0"/>
                        <a:t>AVG Days to Close</a:t>
                      </a:r>
                      <a:endParaRPr lang="en-ID" dirty="0"/>
                    </a:p>
                  </a:txBody>
                  <a:tcPr anchor="ctr"/>
                </a:tc>
                <a:extLst>
                  <a:ext uri="{0D108BD9-81ED-4DB2-BD59-A6C34878D82A}">
                    <a16:rowId xmlns:a16="http://schemas.microsoft.com/office/drawing/2014/main" val="4110020034"/>
                  </a:ext>
                </a:extLst>
              </a:tr>
              <a:tr h="370840">
                <a:tc>
                  <a:txBody>
                    <a:bodyPr/>
                    <a:lstStyle/>
                    <a:p>
                      <a:pPr algn="ctr"/>
                      <a:r>
                        <a:rPr lang="en-US" dirty="0"/>
                        <a:t>1</a:t>
                      </a:r>
                      <a:endParaRPr lang="en-ID" dirty="0"/>
                    </a:p>
                  </a:txBody>
                  <a:tcPr anchor="ctr"/>
                </a:tc>
                <a:tc>
                  <a:txBody>
                    <a:bodyPr/>
                    <a:lstStyle/>
                    <a:p>
                      <a:r>
                        <a:rPr lang="en-US" dirty="0"/>
                        <a:t>unknown</a:t>
                      </a:r>
                      <a:endParaRPr lang="en-ID" dirty="0"/>
                    </a:p>
                  </a:txBody>
                  <a:tcPr anchor="ctr"/>
                </a:tc>
                <a:tc>
                  <a:txBody>
                    <a:bodyPr/>
                    <a:lstStyle/>
                    <a:p>
                      <a:pPr algn="ctr"/>
                      <a:r>
                        <a:rPr lang="en-ID" dirty="0"/>
                        <a:t>$213.7K</a:t>
                      </a:r>
                    </a:p>
                  </a:txBody>
                  <a:tcPr anchor="ctr"/>
                </a:tc>
                <a:tc>
                  <a:txBody>
                    <a:bodyPr/>
                    <a:lstStyle/>
                    <a:p>
                      <a:pPr algn="ctr"/>
                      <a:r>
                        <a:rPr lang="en-US" dirty="0"/>
                        <a:t>16.29 %</a:t>
                      </a:r>
                      <a:endParaRPr lang="en-ID" dirty="0"/>
                    </a:p>
                  </a:txBody>
                  <a:tcPr anchor="ctr"/>
                </a:tc>
                <a:tc>
                  <a:txBody>
                    <a:bodyPr/>
                    <a:lstStyle/>
                    <a:p>
                      <a:pPr algn="ctr"/>
                      <a:r>
                        <a:rPr lang="en-US" dirty="0"/>
                        <a:t>41.3</a:t>
                      </a:r>
                      <a:endParaRPr lang="en-ID" dirty="0"/>
                    </a:p>
                  </a:txBody>
                  <a:tcPr anchor="ctr"/>
                </a:tc>
                <a:extLst>
                  <a:ext uri="{0D108BD9-81ED-4DB2-BD59-A6C34878D82A}">
                    <a16:rowId xmlns:a16="http://schemas.microsoft.com/office/drawing/2014/main" val="395884345"/>
                  </a:ext>
                </a:extLst>
              </a:tr>
              <a:tr h="370840">
                <a:tc>
                  <a:txBody>
                    <a:bodyPr/>
                    <a:lstStyle/>
                    <a:p>
                      <a:pPr algn="ctr"/>
                      <a:r>
                        <a:rPr lang="en-US" dirty="0"/>
                        <a:t>2</a:t>
                      </a:r>
                      <a:endParaRPr lang="en-ID" dirty="0"/>
                    </a:p>
                  </a:txBody>
                  <a:tcPr anchor="ctr"/>
                </a:tc>
                <a:tc>
                  <a:txBody>
                    <a:bodyPr/>
                    <a:lstStyle/>
                    <a:p>
                      <a:r>
                        <a:rPr lang="en-US" dirty="0" err="1"/>
                        <a:t>organic_search</a:t>
                      </a:r>
                      <a:endParaRPr lang="en-ID" dirty="0"/>
                    </a:p>
                  </a:txBody>
                  <a:tcPr anchor="ctr"/>
                </a:tc>
                <a:tc>
                  <a:txBody>
                    <a:bodyPr/>
                    <a:lstStyle/>
                    <a:p>
                      <a:pPr algn="ctr"/>
                      <a:r>
                        <a:rPr lang="en-ID" dirty="0"/>
                        <a:t>$207.0K</a:t>
                      </a:r>
                    </a:p>
                  </a:txBody>
                  <a:tcPr anchor="ctr"/>
                </a:tc>
                <a:tc>
                  <a:txBody>
                    <a:bodyPr/>
                    <a:lstStyle/>
                    <a:p>
                      <a:pPr algn="ctr"/>
                      <a:r>
                        <a:rPr lang="en-US" dirty="0"/>
                        <a:t>11.80 %</a:t>
                      </a:r>
                      <a:endParaRPr lang="en-ID" dirty="0"/>
                    </a:p>
                  </a:txBody>
                  <a:tcPr anchor="ctr"/>
                </a:tc>
                <a:tc>
                  <a:txBody>
                    <a:bodyPr/>
                    <a:lstStyle/>
                    <a:p>
                      <a:pPr algn="ctr"/>
                      <a:r>
                        <a:rPr lang="en-US" dirty="0"/>
                        <a:t>50</a:t>
                      </a:r>
                      <a:endParaRPr lang="en-ID" dirty="0"/>
                    </a:p>
                  </a:txBody>
                  <a:tcPr anchor="ctr"/>
                </a:tc>
                <a:extLst>
                  <a:ext uri="{0D108BD9-81ED-4DB2-BD59-A6C34878D82A}">
                    <a16:rowId xmlns:a16="http://schemas.microsoft.com/office/drawing/2014/main" val="1135269914"/>
                  </a:ext>
                </a:extLst>
              </a:tr>
              <a:tr h="370840">
                <a:tc>
                  <a:txBody>
                    <a:bodyPr/>
                    <a:lstStyle/>
                    <a:p>
                      <a:pPr algn="ctr"/>
                      <a:r>
                        <a:rPr lang="en-US" dirty="0"/>
                        <a:t>3</a:t>
                      </a:r>
                      <a:endParaRPr lang="en-ID" dirty="0"/>
                    </a:p>
                  </a:txBody>
                  <a:tcPr anchor="ctr"/>
                </a:tc>
                <a:tc>
                  <a:txBody>
                    <a:bodyPr/>
                    <a:lstStyle/>
                    <a:p>
                      <a:r>
                        <a:rPr lang="en-US" dirty="0" err="1"/>
                        <a:t>paid_search</a:t>
                      </a:r>
                      <a:endParaRPr lang="en-ID" dirty="0"/>
                    </a:p>
                  </a:txBody>
                  <a:tcPr anchor="ctr"/>
                </a:tc>
                <a:tc>
                  <a:txBody>
                    <a:bodyPr/>
                    <a:lstStyle/>
                    <a:p>
                      <a:pPr algn="ctr"/>
                      <a:r>
                        <a:rPr lang="en-ID" dirty="0"/>
                        <a:t>$155.3K</a:t>
                      </a:r>
                    </a:p>
                  </a:txBody>
                  <a:tcPr anchor="ctr"/>
                </a:tc>
                <a:tc>
                  <a:txBody>
                    <a:bodyPr/>
                    <a:lstStyle/>
                    <a:p>
                      <a:pPr algn="ctr"/>
                      <a:r>
                        <a:rPr lang="en-US" dirty="0"/>
                        <a:t>12.30 %</a:t>
                      </a:r>
                      <a:endParaRPr lang="en-ID" dirty="0"/>
                    </a:p>
                  </a:txBody>
                  <a:tcPr anchor="ctr"/>
                </a:tc>
                <a:tc>
                  <a:txBody>
                    <a:bodyPr/>
                    <a:lstStyle/>
                    <a:p>
                      <a:pPr algn="ctr"/>
                      <a:r>
                        <a:rPr lang="en-US" dirty="0"/>
                        <a:t>56.6</a:t>
                      </a:r>
                      <a:endParaRPr lang="en-ID" dirty="0"/>
                    </a:p>
                  </a:txBody>
                  <a:tcPr anchor="ctr"/>
                </a:tc>
                <a:extLst>
                  <a:ext uri="{0D108BD9-81ED-4DB2-BD59-A6C34878D82A}">
                    <a16:rowId xmlns:a16="http://schemas.microsoft.com/office/drawing/2014/main" val="2213577602"/>
                  </a:ext>
                </a:extLst>
              </a:tr>
              <a:tr h="370840">
                <a:tc>
                  <a:txBody>
                    <a:bodyPr/>
                    <a:lstStyle/>
                    <a:p>
                      <a:pPr algn="ctr"/>
                      <a:r>
                        <a:rPr lang="en-US" dirty="0"/>
                        <a:t>4</a:t>
                      </a:r>
                      <a:endParaRPr lang="en-ID" dirty="0"/>
                    </a:p>
                  </a:txBody>
                  <a:tcPr anchor="ctr"/>
                </a:tc>
                <a:tc>
                  <a:txBody>
                    <a:bodyPr/>
                    <a:lstStyle/>
                    <a:p>
                      <a:r>
                        <a:rPr lang="en-US" dirty="0"/>
                        <a:t>social</a:t>
                      </a:r>
                      <a:endParaRPr lang="en-ID" dirty="0"/>
                    </a:p>
                  </a:txBody>
                  <a:tcPr anchor="ctr"/>
                </a:tc>
                <a:tc>
                  <a:txBody>
                    <a:bodyPr/>
                    <a:lstStyle/>
                    <a:p>
                      <a:pPr algn="ctr"/>
                      <a:r>
                        <a:rPr lang="en-ID" dirty="0"/>
                        <a:t>$43.5K</a:t>
                      </a:r>
                    </a:p>
                  </a:txBody>
                  <a:tcPr anchor="ctr"/>
                </a:tc>
                <a:tc>
                  <a:txBody>
                    <a:bodyPr/>
                    <a:lstStyle/>
                    <a:p>
                      <a:pPr algn="ctr"/>
                      <a:r>
                        <a:rPr lang="en-US" dirty="0"/>
                        <a:t>5.56 %</a:t>
                      </a:r>
                      <a:endParaRPr lang="en-ID" dirty="0"/>
                    </a:p>
                  </a:txBody>
                  <a:tcPr anchor="ctr"/>
                </a:tc>
                <a:tc>
                  <a:txBody>
                    <a:bodyPr/>
                    <a:lstStyle/>
                    <a:p>
                      <a:pPr algn="ctr"/>
                      <a:r>
                        <a:rPr lang="en-US" dirty="0"/>
                        <a:t>61</a:t>
                      </a:r>
                      <a:endParaRPr lang="en-ID" dirty="0"/>
                    </a:p>
                  </a:txBody>
                  <a:tcPr anchor="ctr"/>
                </a:tc>
                <a:extLst>
                  <a:ext uri="{0D108BD9-81ED-4DB2-BD59-A6C34878D82A}">
                    <a16:rowId xmlns:a16="http://schemas.microsoft.com/office/drawing/2014/main" val="1785285801"/>
                  </a:ext>
                </a:extLst>
              </a:tr>
            </a:tbl>
          </a:graphicData>
        </a:graphic>
      </p:graphicFrame>
    </p:spTree>
    <p:extLst>
      <p:ext uri="{BB962C8B-B14F-4D97-AF65-F5344CB8AC3E}">
        <p14:creationId xmlns:p14="http://schemas.microsoft.com/office/powerpoint/2010/main" val="3419928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FD38B-69B6-F813-D00D-E51AE2A22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7EA9C-BE94-6760-786D-782285F79692}"/>
              </a:ext>
            </a:extLst>
          </p:cNvPr>
          <p:cNvSpPr>
            <a:spLocks noGrp="1"/>
          </p:cNvSpPr>
          <p:nvPr>
            <p:ph type="title"/>
          </p:nvPr>
        </p:nvSpPr>
        <p:spPr>
          <a:xfrm>
            <a:off x="1885156" y="109857"/>
            <a:ext cx="8421688" cy="1325563"/>
          </a:xfrm>
        </p:spPr>
        <p:txBody>
          <a:bodyPr/>
          <a:lstStyle/>
          <a:p>
            <a:r>
              <a:rPr lang="en-US" dirty="0"/>
              <a:t>Descriptive Analytics: Customer Longitudinal Cohort Retention Analysis</a:t>
            </a:r>
          </a:p>
        </p:txBody>
      </p:sp>
      <p:graphicFrame>
        <p:nvGraphicFramePr>
          <p:cNvPr id="26" name="Diagram 25">
            <a:extLst>
              <a:ext uri="{FF2B5EF4-FFF2-40B4-BE49-F238E27FC236}">
                <a16:creationId xmlns:a16="http://schemas.microsoft.com/office/drawing/2014/main" id="{5DB3AB13-7E9D-2306-59EB-1E5CCBCE718C}"/>
              </a:ext>
            </a:extLst>
          </p:cNvPr>
          <p:cNvGraphicFramePr/>
          <p:nvPr>
            <p:extLst>
              <p:ext uri="{D42A27DB-BD31-4B8C-83A1-F6EECF244321}">
                <p14:modId xmlns:p14="http://schemas.microsoft.com/office/powerpoint/2010/main" val="1787664214"/>
              </p:ext>
            </p:extLst>
          </p:nvPr>
        </p:nvGraphicFramePr>
        <p:xfrm>
          <a:off x="401320" y="1320800"/>
          <a:ext cx="5308600" cy="4959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45C5DBB7-C481-4FF6-9101-168D46673640}"/>
              </a:ext>
            </a:extLst>
          </p:cNvPr>
          <p:cNvPicPr>
            <a:picLocks noChangeAspect="1"/>
          </p:cNvPicPr>
          <p:nvPr/>
        </p:nvPicPr>
        <p:blipFill>
          <a:blip r:embed="rId8"/>
          <a:srcRect l="1439" t="1512" r="2097" b="1965"/>
          <a:stretch/>
        </p:blipFill>
        <p:spPr>
          <a:xfrm>
            <a:off x="6050280" y="1179098"/>
            <a:ext cx="5740400" cy="5569045"/>
          </a:xfrm>
          <a:prstGeom prst="rect">
            <a:avLst/>
          </a:prstGeom>
          <a:ln w="6350">
            <a:solidFill>
              <a:schemeClr val="tx1"/>
            </a:solidFill>
          </a:ln>
        </p:spPr>
      </p:pic>
    </p:spTree>
    <p:extLst>
      <p:ext uri="{BB962C8B-B14F-4D97-AF65-F5344CB8AC3E}">
        <p14:creationId xmlns:p14="http://schemas.microsoft.com/office/powerpoint/2010/main" val="2963337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714B5-6696-4CC0-19E3-A0DDF9C83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142DF-C0A1-4968-771C-2F1550D6FB5C}"/>
              </a:ext>
            </a:extLst>
          </p:cNvPr>
          <p:cNvSpPr>
            <a:spLocks noGrp="1"/>
          </p:cNvSpPr>
          <p:nvPr>
            <p:ph type="title"/>
          </p:nvPr>
        </p:nvSpPr>
        <p:spPr>
          <a:xfrm>
            <a:off x="1885156" y="109857"/>
            <a:ext cx="8421688" cy="1325563"/>
          </a:xfrm>
        </p:spPr>
        <p:txBody>
          <a:bodyPr/>
          <a:lstStyle/>
          <a:p>
            <a:r>
              <a:rPr lang="en-US" dirty="0"/>
              <a:t>Data-Driven Corporate Directives for Leadership</a:t>
            </a:r>
          </a:p>
        </p:txBody>
      </p:sp>
      <p:graphicFrame>
        <p:nvGraphicFramePr>
          <p:cNvPr id="26" name="Diagram 25">
            <a:extLst>
              <a:ext uri="{FF2B5EF4-FFF2-40B4-BE49-F238E27FC236}">
                <a16:creationId xmlns:a16="http://schemas.microsoft.com/office/drawing/2014/main" id="{74CFEA0A-1413-A059-43B2-593063C9B028}"/>
              </a:ext>
            </a:extLst>
          </p:cNvPr>
          <p:cNvGraphicFramePr/>
          <p:nvPr>
            <p:extLst>
              <p:ext uri="{D42A27DB-BD31-4B8C-83A1-F6EECF244321}">
                <p14:modId xmlns:p14="http://schemas.microsoft.com/office/powerpoint/2010/main" val="2157826327"/>
              </p:ext>
            </p:extLst>
          </p:nvPr>
        </p:nvGraphicFramePr>
        <p:xfrm>
          <a:off x="1173480" y="1593956"/>
          <a:ext cx="9845040" cy="4157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6792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a:bodyPr>
          <a:lstStyle/>
          <a:p>
            <a:r>
              <a:rPr lang="en-US" dirty="0"/>
              <a:t>Dwi Budi Setyonugroho</a:t>
            </a:r>
          </a:p>
          <a:p>
            <a:r>
              <a:rPr lang="en-US" dirty="0"/>
              <a:t>+62 851-8611-1556</a:t>
            </a:r>
          </a:p>
          <a:p>
            <a:r>
              <a:rPr lang="en-US" dirty="0"/>
              <a:t>setyonugrohodwibudi@gmail.com</a:t>
            </a:r>
          </a:p>
          <a:p>
            <a:r>
              <a:rPr lang="en-US" dirty="0"/>
              <a:t>budinugroho.com</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6E94D4DF-24E6-4758-8701-2C20AC2BF2DD}" vid="{D9C778EE-A573-4D68-89BA-A3DB5F810E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1845F9-C5F4-4AA5-BA9E-EC2182E914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C8B084D-D430-4822-B3CB-DEADB2E7A5FC}">
  <ds:schemaRefs>
    <ds:schemaRef ds:uri="http://schemas.microsoft.com/sharepoint/v3/contenttype/forms"/>
  </ds:schemaRefs>
</ds:datastoreItem>
</file>

<file path=customXml/itemProps3.xml><?xml version="1.0" encoding="utf-8"?>
<ds:datastoreItem xmlns:ds="http://schemas.openxmlformats.org/officeDocument/2006/customXml" ds:itemID="{15BFCE94-6EC9-4D8E-89B6-C22DE7AD70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1121</Words>
  <Application>Microsoft Office PowerPoint</Application>
  <PresentationFormat>Widescreen</PresentationFormat>
  <Paragraphs>92</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Tenorite</vt:lpstr>
      <vt:lpstr>Monoline</vt:lpstr>
      <vt:lpstr>The B2B2C Marketplace Growth &amp; Retention Framework</vt:lpstr>
      <vt:lpstr>The B2B2C Marketplace Growth &amp; Retention Framework</vt:lpstr>
      <vt:lpstr>Evaluating the Corporate Growth Paradox</vt:lpstr>
      <vt:lpstr>Decoupled 3-Tier Data Pipeline Architecture</vt:lpstr>
      <vt:lpstr>Diagnostic Analytics: Marketing Channel Yield &amp; Conversion Efficiency</vt:lpstr>
      <vt:lpstr>Descriptive Analytics: Customer Longitudinal Cohort Retention Analysis</vt:lpstr>
      <vt:lpstr>Data-Driven Corporate Directives for Leadership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2023-07-24T01:11:48Z</dcterms:created>
  <dcterms:modified xsi:type="dcterms:W3CDTF">2026-06-29T02:17:28Z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